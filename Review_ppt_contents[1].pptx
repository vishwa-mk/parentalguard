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75" r:id="rId5"/>
    <p:sldId id="276" r:id="rId6"/>
    <p:sldId id="260" r:id="rId7"/>
    <p:sldId id="264" r:id="rId8"/>
    <p:sldId id="262" r:id="rId9"/>
    <p:sldId id="261" r:id="rId10"/>
    <p:sldId id="263" r:id="rId11"/>
    <p:sldId id="277" r:id="rId12"/>
    <p:sldId id="284" r:id="rId13"/>
    <p:sldId id="281" r:id="rId14"/>
    <p:sldId id="282" r:id="rId15"/>
    <p:sldId id="283" r:id="rId16"/>
    <p:sldId id="268" r:id="rId17"/>
    <p:sldId id="280" r:id="rId18"/>
    <p:sldId id="279" r:id="rId19"/>
    <p:sldId id="285" r:id="rId20"/>
    <p:sldId id="274" r:id="rId21"/>
    <p:sldId id="271" r:id="rId22"/>
    <p:sldId id="267" r:id="rId23"/>
    <p:sldId id="278" r:id="rId24"/>
    <p:sldId id="272" r:id="rId25"/>
    <p:sldId id="27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varScale="1">
        <p:scale>
          <a:sx n="84" d="100"/>
          <a:sy n="84" d="100"/>
        </p:scale>
        <p:origin x="145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CD2DE1-1063-4F5A-A331-75074A4355D8}" type="datetimeFigureOut">
              <a:rPr lang="en-US" smtClean="0"/>
              <a:pPr/>
              <a:t>11/7/2025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94320D-5FE6-4A6C-9267-C999B98E45E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6042923-5049-4C1C-AF7E-7ED589180E8F}"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042923-5049-4C1C-AF7E-7ED589180E8F}"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042923-5049-4C1C-AF7E-7ED589180E8F}"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6042923-5049-4C1C-AF7E-7ED589180E8F}"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042923-5049-4C1C-AF7E-7ED589180E8F}" type="datetimeFigureOut">
              <a:rPr lang="en-US" smtClean="0"/>
              <a:pPr/>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6042923-5049-4C1C-AF7E-7ED589180E8F}" type="datetimeFigureOut">
              <a:rPr lang="en-US" smtClean="0"/>
              <a:pPr/>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042923-5049-4C1C-AF7E-7ED589180E8F}" type="datetimeFigureOut">
              <a:rPr lang="en-US" smtClean="0"/>
              <a:pPr/>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042923-5049-4C1C-AF7E-7ED589180E8F}"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042923-5049-4C1C-AF7E-7ED589180E8F}"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042923-5049-4C1C-AF7E-7ED589180E8F}"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042923-5049-4C1C-AF7E-7ED589180E8F}"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6CA159-E182-467B-B436-7C1A25F2EC5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042923-5049-4C1C-AF7E-7ED589180E8F}" type="datetimeFigureOut">
              <a:rPr lang="en-US" smtClean="0"/>
              <a:pPr/>
              <a:t>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6CA159-E182-467B-B436-7C1A25F2EC5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freepngimg.com/png/36252-mother-photo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1698625"/>
          </a:xfrm>
        </p:spPr>
        <p:txBody>
          <a:bodyPr/>
          <a:lstStyle/>
          <a:p>
            <a:endParaRPr lang="en-US" dirty="0"/>
          </a:p>
        </p:txBody>
      </p:sp>
      <p:sp>
        <p:nvSpPr>
          <p:cNvPr id="3" name="Subtitle 2"/>
          <p:cNvSpPr>
            <a:spLocks noGrp="1"/>
          </p:cNvSpPr>
          <p:nvPr>
            <p:ph type="subTitle" idx="1"/>
          </p:nvPr>
        </p:nvSpPr>
        <p:spPr>
          <a:xfrm>
            <a:off x="228600" y="1905000"/>
            <a:ext cx="8610600" cy="4953000"/>
          </a:xfrm>
        </p:spPr>
        <p:txBody>
          <a:bodyPr>
            <a:normAutofit fontScale="40000" lnSpcReduction="20000"/>
          </a:bodyPr>
          <a:lstStyle/>
          <a:p>
            <a:pPr lvl="0"/>
            <a:r>
              <a:rPr kumimoji="0" lang="en-US" sz="4200" b="1" u="none" strike="noStrike" cap="none" normalizeH="0" baseline="0" dirty="0">
                <a:ln>
                  <a:noFill/>
                </a:ln>
                <a:solidFill>
                  <a:schemeClr val="accent1">
                    <a:lumMod val="75000"/>
                  </a:schemeClr>
                </a:solidFill>
                <a:effectLst/>
                <a:latin typeface="Times New Roman" pitchFamily="18" charset="0"/>
                <a:ea typeface="Calibri" pitchFamily="34" charset="0"/>
                <a:cs typeface="Times New Roman" pitchFamily="18" charset="0"/>
              </a:rPr>
              <a:t>Presentation</a:t>
            </a:r>
            <a:r>
              <a:rPr kumimoji="0" lang="en-US" sz="3600" b="1" u="none" strike="noStrike" cap="none" normalizeH="0" baseline="0" dirty="0">
                <a:ln>
                  <a:noFill/>
                </a:ln>
                <a:solidFill>
                  <a:schemeClr val="accent1">
                    <a:lumMod val="75000"/>
                  </a:schemeClr>
                </a:solidFill>
                <a:effectLst/>
                <a:latin typeface="Times New Roman" pitchFamily="18" charset="0"/>
                <a:ea typeface="Calibri" pitchFamily="34" charset="0"/>
                <a:cs typeface="Times New Roman" pitchFamily="18" charset="0"/>
              </a:rPr>
              <a:t> </a:t>
            </a:r>
          </a:p>
          <a:p>
            <a:pPr lvl="0"/>
            <a:endParaRPr kumimoji="0" lang="en-US" sz="1800" b="1" u="none" strike="noStrike" cap="none" normalizeH="0" baseline="0" dirty="0">
              <a:ln>
                <a:noFill/>
              </a:ln>
              <a:solidFill>
                <a:schemeClr val="accent1">
                  <a:lumMod val="75000"/>
                </a:schemeClr>
              </a:solidFill>
              <a:effectLst/>
              <a:latin typeface="Times New Roman" pitchFamily="18" charset="0"/>
              <a:ea typeface="Calibri" pitchFamily="34" charset="0"/>
              <a:cs typeface="Times New Roman" pitchFamily="18" charset="0"/>
            </a:endParaRPr>
          </a:p>
          <a:p>
            <a:pPr lvl="0" fontAlgn="base">
              <a:spcBef>
                <a:spcPct val="0"/>
              </a:spcBef>
              <a:spcAft>
                <a:spcPts val="1200"/>
              </a:spcAft>
            </a:pPr>
            <a:r>
              <a:rPr kumimoji="0" lang="en-US" sz="2900" b="1"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on </a:t>
            </a:r>
          </a:p>
          <a:p>
            <a:pPr lvl="0" eaLnBrk="0" fontAlgn="base" hangingPunct="0">
              <a:lnSpc>
                <a:spcPct val="120000"/>
              </a:lnSpc>
              <a:spcBef>
                <a:spcPct val="0"/>
              </a:spcBef>
              <a:spcAft>
                <a:spcPct val="0"/>
              </a:spcAft>
            </a:pPr>
            <a:r>
              <a:rPr kumimoji="0" lang="en-US" sz="6700" b="1" i="0" u="none" strike="noStrike" cap="none" normalizeH="0" baseline="0" dirty="0">
                <a:ln>
                  <a:noFill/>
                </a:ln>
                <a:solidFill>
                  <a:schemeClr val="accent2">
                    <a:lumMod val="75000"/>
                  </a:schemeClr>
                </a:solidFill>
                <a:effectLst/>
                <a:latin typeface="Times New Roman" pitchFamily="18" charset="0"/>
                <a:ea typeface="Calibri" pitchFamily="34" charset="0"/>
                <a:cs typeface="Times New Roman" pitchFamily="18" charset="0"/>
              </a:rPr>
              <a:t>“PrenatalGuard: A Predictive Analytics Framework for Maternal Health Surveillance” </a:t>
            </a:r>
            <a:endParaRPr lang="en-US" sz="4500" b="1" dirty="0">
              <a:solidFill>
                <a:srgbClr val="00B050"/>
              </a:solidFill>
              <a:latin typeface="Times New Roman" pitchFamily="18" charset="0"/>
              <a:cs typeface="Times New Roman" pitchFamily="18" charset="0"/>
            </a:endParaRPr>
          </a:p>
          <a:p>
            <a:pPr lvl="0" eaLnBrk="0" fontAlgn="base" hangingPunct="0">
              <a:spcBef>
                <a:spcPct val="0"/>
              </a:spcBef>
              <a:spcAft>
                <a:spcPct val="0"/>
              </a:spcAft>
            </a:pPr>
            <a:r>
              <a:rPr lang="en-US" sz="2900" b="1" dirty="0">
                <a:solidFill>
                  <a:srgbClr val="00B050"/>
                </a:solidFill>
                <a:latin typeface="Times New Roman" pitchFamily="18" charset="0"/>
                <a:cs typeface="Times New Roman" pitchFamily="18" charset="0"/>
              </a:rPr>
              <a:t>(AUG  29, 2025)</a:t>
            </a:r>
            <a:endParaRPr kumimoji="0" lang="en-US" sz="2900" b="0" i="0" u="none" strike="noStrike" cap="none" normalizeH="0" baseline="0" dirty="0">
              <a:ln>
                <a:noFill/>
              </a:ln>
              <a:solidFill>
                <a:srgbClr val="00B050"/>
              </a:solidFill>
              <a:effectLst/>
              <a:latin typeface="Times New Roman" pitchFamily="18" charset="0"/>
              <a:cs typeface="Times New Roman" pitchFamily="18" charset="0"/>
            </a:endParaRPr>
          </a:p>
          <a:p>
            <a:endParaRPr lang="en-US" sz="2000" b="1" dirty="0">
              <a:solidFill>
                <a:schemeClr val="tx1"/>
              </a:solidFill>
              <a:latin typeface="Times New Roman" pitchFamily="18" charset="0"/>
              <a:cs typeface="Times New Roman" pitchFamily="18" charset="0"/>
            </a:endParaRPr>
          </a:p>
          <a:p>
            <a:endParaRPr lang="en-US" sz="2000" b="1" dirty="0">
              <a:solidFill>
                <a:schemeClr val="tx1"/>
              </a:solidFill>
              <a:latin typeface="Times New Roman" pitchFamily="18" charset="0"/>
              <a:cs typeface="Times New Roman" pitchFamily="18" charset="0"/>
            </a:endParaRPr>
          </a:p>
          <a:p>
            <a:endParaRPr lang="en-US" sz="2000" b="1" dirty="0">
              <a:solidFill>
                <a:schemeClr val="tx1"/>
              </a:solidFill>
              <a:latin typeface="Times New Roman" pitchFamily="18" charset="0"/>
              <a:cs typeface="Times New Roman" pitchFamily="18" charset="0"/>
            </a:endParaRPr>
          </a:p>
          <a:p>
            <a:endParaRPr lang="en-US" sz="2000" b="1" dirty="0">
              <a:solidFill>
                <a:schemeClr val="tx1"/>
              </a:solidFill>
              <a:latin typeface="Times New Roman" pitchFamily="18" charset="0"/>
              <a:cs typeface="Times New Roman" pitchFamily="18" charset="0"/>
            </a:endParaRPr>
          </a:p>
          <a:p>
            <a:endParaRPr lang="en-US" sz="2000" b="1" dirty="0">
              <a:solidFill>
                <a:schemeClr val="tx1"/>
              </a:solidFill>
              <a:latin typeface="Times New Roman" pitchFamily="18" charset="0"/>
              <a:cs typeface="Times New Roman" pitchFamily="18" charset="0"/>
            </a:endParaRPr>
          </a:p>
          <a:p>
            <a:endParaRPr lang="en-US" sz="2000" b="1" dirty="0">
              <a:solidFill>
                <a:schemeClr val="tx1"/>
              </a:solidFill>
              <a:latin typeface="Times New Roman" pitchFamily="18" charset="0"/>
              <a:cs typeface="Times New Roman" pitchFamily="18" charset="0"/>
            </a:endParaRPr>
          </a:p>
          <a:p>
            <a:endParaRPr lang="en-US" sz="2000" b="1" dirty="0">
              <a:solidFill>
                <a:schemeClr val="tx1"/>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endParaRPr lang="en-US" sz="2000" b="1" dirty="0">
              <a:solidFill>
                <a:srgbClr val="FF0000"/>
              </a:solidFill>
              <a:latin typeface="Times New Roman" pitchFamily="18" charset="0"/>
              <a:cs typeface="Times New Roman" pitchFamily="18" charset="0"/>
            </a:endParaRPr>
          </a:p>
          <a:p>
            <a:r>
              <a:rPr lang="en-US" sz="3800" b="1" dirty="0">
                <a:solidFill>
                  <a:schemeClr val="accent2">
                    <a:lumMod val="50000"/>
                  </a:schemeClr>
                </a:solidFill>
                <a:latin typeface="Times New Roman" pitchFamily="18" charset="0"/>
                <a:cs typeface="Times New Roman" pitchFamily="18" charset="0"/>
              </a:rPr>
              <a:t>DEPARTMENT OF COMPUTER SCIENCE &amp; ENGINEERING</a:t>
            </a:r>
          </a:p>
          <a:p>
            <a:r>
              <a:rPr lang="en-US" sz="3800" b="1" dirty="0">
                <a:solidFill>
                  <a:schemeClr val="accent2">
                    <a:lumMod val="50000"/>
                  </a:schemeClr>
                </a:solidFill>
                <a:latin typeface="Times New Roman" pitchFamily="18" charset="0"/>
                <a:cs typeface="Times New Roman" pitchFamily="18" charset="0"/>
              </a:rPr>
              <a:t>CAY 2025-2026</a:t>
            </a:r>
          </a:p>
          <a:p>
            <a:endParaRPr lang="en-US" sz="2000" b="1" dirty="0">
              <a:solidFill>
                <a:schemeClr val="tx1"/>
              </a:solidFill>
              <a:latin typeface="Times New Roman" pitchFamily="18" charset="0"/>
              <a:cs typeface="Times New Roman" pitchFamily="18" charset="0"/>
            </a:endParaRPr>
          </a:p>
        </p:txBody>
      </p:sp>
      <p:sp>
        <p:nvSpPr>
          <p:cNvPr id="5" name="Rectangle 4"/>
          <p:cNvSpPr/>
          <p:nvPr/>
        </p:nvSpPr>
        <p:spPr>
          <a:xfrm>
            <a:off x="228600" y="3581400"/>
            <a:ext cx="5410200" cy="4278094"/>
          </a:xfrm>
          <a:prstGeom prst="rect">
            <a:avLst/>
          </a:prstGeom>
        </p:spPr>
        <p:txBody>
          <a:bodyPr wrap="square">
            <a:spAutoFit/>
          </a:bodyPr>
          <a:lstStyle/>
          <a:p>
            <a:pPr algn="ctr"/>
            <a:r>
              <a:rPr lang="en-US" sz="2000" b="1" dirty="0">
                <a:solidFill>
                  <a:srgbClr val="C00000"/>
                </a:solidFill>
                <a:latin typeface="Times New Roman" pitchFamily="18" charset="0"/>
                <a:ea typeface="Calibri" pitchFamily="34" charset="0"/>
                <a:cs typeface="Times New Roman" pitchFamily="18" charset="0"/>
              </a:rPr>
              <a:t>Presented by:</a:t>
            </a:r>
          </a:p>
          <a:p>
            <a:r>
              <a:rPr lang="en-US" b="1" dirty="0">
                <a:latin typeface="Times New Roman" pitchFamily="18" charset="0"/>
                <a:ea typeface="Calibri" pitchFamily="34" charset="0"/>
                <a:cs typeface="Times New Roman" pitchFamily="18" charset="0"/>
              </a:rPr>
              <a:t> </a:t>
            </a:r>
          </a:p>
          <a:p>
            <a:r>
              <a:rPr lang="en-US" b="1" dirty="0">
                <a:latin typeface="Times New Roman" pitchFamily="18" charset="0"/>
                <a:ea typeface="Calibri" pitchFamily="34" charset="0"/>
                <a:cs typeface="Times New Roman" pitchFamily="18" charset="0"/>
              </a:rPr>
              <a:t>2JH22CS018       CHRIS ALAXANDER</a:t>
            </a:r>
          </a:p>
          <a:p>
            <a:r>
              <a:rPr lang="en-US" b="1" dirty="0">
                <a:latin typeface="Times New Roman" pitchFamily="18" charset="0"/>
                <a:ea typeface="Calibri" pitchFamily="34" charset="0"/>
                <a:cs typeface="Times New Roman" pitchFamily="18" charset="0"/>
              </a:rPr>
              <a:t>2JH22CS058       OMKAR F PATIL   </a:t>
            </a:r>
          </a:p>
          <a:p>
            <a:r>
              <a:rPr lang="en-US" b="1" dirty="0">
                <a:latin typeface="Times New Roman" pitchFamily="18" charset="0"/>
                <a:ea typeface="Calibri" pitchFamily="34" charset="0"/>
                <a:cs typeface="Times New Roman" pitchFamily="18" charset="0"/>
              </a:rPr>
              <a:t>2JH22CS077       SAGAR T</a:t>
            </a:r>
          </a:p>
          <a:p>
            <a:r>
              <a:rPr lang="en-US" b="1" dirty="0">
                <a:latin typeface="Times New Roman" pitchFamily="18" charset="0"/>
                <a:ea typeface="Calibri" pitchFamily="34" charset="0"/>
                <a:cs typeface="Times New Roman" pitchFamily="18" charset="0"/>
              </a:rPr>
              <a:t>2JH22CS125       VISHWANATH M KARADIGUDD</a:t>
            </a:r>
          </a:p>
          <a:p>
            <a:endParaRPr lang="en-US" b="1" dirty="0">
              <a:latin typeface="Times New Roman" pitchFamily="18" charset="0"/>
              <a:ea typeface="Calibri" pitchFamily="34" charset="0"/>
              <a:cs typeface="Times New Roman" pitchFamily="18" charset="0"/>
            </a:endParaRPr>
          </a:p>
          <a:p>
            <a:endParaRPr lang="en-US" b="1" dirty="0">
              <a:latin typeface="Times New Roman" pitchFamily="18" charset="0"/>
              <a:ea typeface="Calibri" pitchFamily="34" charset="0"/>
              <a:cs typeface="Times New Roman" pitchFamily="18" charset="0"/>
            </a:endParaRPr>
          </a:p>
          <a:p>
            <a:endParaRPr lang="en-US" b="1" dirty="0">
              <a:latin typeface="Times New Roman" pitchFamily="18" charset="0"/>
              <a:ea typeface="Calibri" pitchFamily="34" charset="0"/>
              <a:cs typeface="Times New Roman" pitchFamily="18" charset="0"/>
            </a:endParaRPr>
          </a:p>
          <a:p>
            <a:endParaRPr lang="en-US" b="1" dirty="0">
              <a:latin typeface="Times New Roman" pitchFamily="18" charset="0"/>
              <a:ea typeface="Calibri" pitchFamily="34" charset="0"/>
              <a:cs typeface="Times New Roman" pitchFamily="18" charset="0"/>
            </a:endParaRPr>
          </a:p>
          <a:p>
            <a:endParaRPr lang="en-US" b="1" dirty="0">
              <a:solidFill>
                <a:srgbClr val="C00000"/>
              </a:solidFill>
              <a:latin typeface="Times New Roman" pitchFamily="18" charset="0"/>
              <a:ea typeface="Calibri" pitchFamily="34" charset="0"/>
              <a:cs typeface="Times New Roman" pitchFamily="18" charset="0"/>
            </a:endParaRPr>
          </a:p>
          <a:p>
            <a:pPr algn="ctr"/>
            <a:endParaRPr lang="en-US" b="1" dirty="0">
              <a:solidFill>
                <a:srgbClr val="C00000"/>
              </a:solidFill>
              <a:latin typeface="Times New Roman" pitchFamily="18" charset="0"/>
              <a:ea typeface="Calibri" pitchFamily="34" charset="0"/>
              <a:cs typeface="Times New Roman" pitchFamily="18" charset="0"/>
            </a:endParaRPr>
          </a:p>
          <a:p>
            <a:pPr algn="ctr"/>
            <a:endParaRPr lang="en-US" b="1" dirty="0">
              <a:solidFill>
                <a:srgbClr val="C00000"/>
              </a:solidFill>
              <a:latin typeface="Times New Roman" pitchFamily="18" charset="0"/>
              <a:ea typeface="Calibri" pitchFamily="34" charset="0"/>
              <a:cs typeface="Times New Roman" pitchFamily="18" charset="0"/>
            </a:endParaRPr>
          </a:p>
          <a:p>
            <a:pPr algn="ctr"/>
            <a:endParaRPr lang="en-US" dirty="0">
              <a:solidFill>
                <a:srgbClr val="7030A0"/>
              </a:solidFill>
              <a:latin typeface="Times New Roman" pitchFamily="18" charset="0"/>
              <a:ea typeface="Calibri" pitchFamily="34" charset="0"/>
              <a:cs typeface="Times New Roman" pitchFamily="18" charset="0"/>
            </a:endParaRPr>
          </a:p>
          <a:p>
            <a:endParaRPr lang="en-US" dirty="0"/>
          </a:p>
        </p:txBody>
      </p:sp>
      <p:cxnSp>
        <p:nvCxnSpPr>
          <p:cNvPr id="6" name="Straight Connector 5"/>
          <p:cNvCxnSpPr/>
          <p:nvPr/>
        </p:nvCxnSpPr>
        <p:spPr>
          <a:xfrm>
            <a:off x="0" y="1752600"/>
            <a:ext cx="9144000" cy="158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0" y="6096000"/>
            <a:ext cx="9144000" cy="1588"/>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334000" y="3581400"/>
            <a:ext cx="3810000" cy="1754326"/>
          </a:xfrm>
          <a:prstGeom prst="rect">
            <a:avLst/>
          </a:prstGeom>
        </p:spPr>
        <p:txBody>
          <a:bodyPr wrap="square">
            <a:spAutoFit/>
          </a:bodyPr>
          <a:lstStyle/>
          <a:p>
            <a:pPr algn="ctr"/>
            <a:r>
              <a:rPr lang="en-US" sz="2000" b="1" dirty="0">
                <a:solidFill>
                  <a:srgbClr val="C00000"/>
                </a:solidFill>
                <a:latin typeface="Times New Roman" pitchFamily="18" charset="0"/>
                <a:ea typeface="Calibri" pitchFamily="34" charset="0"/>
                <a:cs typeface="Times New Roman" pitchFamily="18" charset="0"/>
              </a:rPr>
              <a:t>Guided by:</a:t>
            </a:r>
          </a:p>
          <a:p>
            <a:pPr algn="ctr"/>
            <a:endParaRPr lang="en-US" sz="2000" b="1" dirty="0">
              <a:solidFill>
                <a:srgbClr val="C00000"/>
              </a:solidFill>
              <a:latin typeface="Times New Roman" pitchFamily="18" charset="0"/>
              <a:ea typeface="Calibri" pitchFamily="34" charset="0"/>
              <a:cs typeface="Times New Roman" pitchFamily="18" charset="0"/>
            </a:endParaRPr>
          </a:p>
          <a:p>
            <a:pPr algn="ctr"/>
            <a:r>
              <a:rPr lang="en-US" b="1" dirty="0">
                <a:latin typeface="Times New Roman" pitchFamily="18" charset="0"/>
                <a:ea typeface="Calibri" pitchFamily="34" charset="0"/>
                <a:cs typeface="Times New Roman" pitchFamily="18" charset="0"/>
              </a:rPr>
              <a:t>Prof. AMRUTA NAVEEN</a:t>
            </a:r>
          </a:p>
          <a:p>
            <a:pPr algn="ctr"/>
            <a:r>
              <a:rPr lang="en-US" sz="1600" b="1" dirty="0">
                <a:latin typeface="Times New Roman" pitchFamily="18" charset="0"/>
                <a:ea typeface="Calibri" pitchFamily="34" charset="0"/>
                <a:cs typeface="Times New Roman" pitchFamily="18" charset="0"/>
              </a:rPr>
              <a:t>Dept of Computer Science </a:t>
            </a:r>
          </a:p>
          <a:p>
            <a:pPr algn="ctr"/>
            <a:r>
              <a:rPr lang="en-US" sz="1600" b="1" dirty="0">
                <a:latin typeface="Times New Roman" pitchFamily="18" charset="0"/>
                <a:ea typeface="Calibri" pitchFamily="34" charset="0"/>
                <a:cs typeface="Times New Roman" pitchFamily="18" charset="0"/>
              </a:rPr>
              <a:t>&amp; Engineering</a:t>
            </a:r>
          </a:p>
          <a:p>
            <a:pPr algn="ctr" eaLnBrk="0" fontAlgn="base" hangingPunct="0">
              <a:spcBef>
                <a:spcPct val="0"/>
              </a:spcBef>
              <a:spcAft>
                <a:spcPct val="0"/>
              </a:spcAft>
            </a:pPr>
            <a:r>
              <a:rPr lang="en-US" dirty="0">
                <a:latin typeface="Times New Roman" pitchFamily="18" charset="0"/>
                <a:ea typeface="Calibri" pitchFamily="34" charset="0"/>
                <a:cs typeface="Times New Roman" pitchFamily="18" charset="0"/>
              </a:rPr>
              <a:t> </a:t>
            </a:r>
            <a:endParaRPr lang="en-US" dirty="0"/>
          </a:p>
        </p:txBody>
      </p:sp>
      <p:pic>
        <p:nvPicPr>
          <p:cNvPr id="1026" name="Picture 2"/>
          <p:cNvPicPr>
            <a:picLocks noChangeAspect="1" noChangeArrowheads="1"/>
          </p:cNvPicPr>
          <p:nvPr/>
        </p:nvPicPr>
        <p:blipFill>
          <a:blip r:embed="rId2"/>
          <a:srcRect/>
          <a:stretch>
            <a:fillRect/>
          </a:stretch>
        </p:blipFill>
        <p:spPr bwMode="auto">
          <a:xfrm>
            <a:off x="685800" y="381000"/>
            <a:ext cx="7924800" cy="1219200"/>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normAutofit/>
          </a:bodyPr>
          <a:lstStyle/>
          <a:p>
            <a:pPr algn="l"/>
            <a:r>
              <a:rPr lang="en-US" b="1" dirty="0">
                <a:solidFill>
                  <a:schemeClr val="accent2">
                    <a:lumMod val="75000"/>
                  </a:schemeClr>
                </a:solidFill>
                <a:latin typeface="Times New Roman" pitchFamily="18" charset="0"/>
                <a:cs typeface="Times New Roman" pitchFamily="18" charset="0"/>
              </a:rPr>
              <a:t>CONTENTS</a:t>
            </a:r>
          </a:p>
        </p:txBody>
      </p:sp>
      <p:sp>
        <p:nvSpPr>
          <p:cNvPr id="3" name="Content Placeholder 2"/>
          <p:cNvSpPr>
            <a:spLocks noGrp="1"/>
          </p:cNvSpPr>
          <p:nvPr>
            <p:ph idx="1"/>
          </p:nvPr>
        </p:nvSpPr>
        <p:spPr>
          <a:xfrm>
            <a:off x="609600" y="762000"/>
            <a:ext cx="8229600" cy="4953000"/>
          </a:xfrm>
        </p:spPr>
        <p:txBody>
          <a:bodyPr>
            <a:noAutofit/>
          </a:bodyPr>
          <a:lstStyle/>
          <a:p>
            <a:pPr marL="0" indent="0">
              <a:buNone/>
            </a:pPr>
            <a:endParaRPr lang="en-US" sz="1800" b="1" dirty="0">
              <a:latin typeface="Times New Roman" pitchFamily="18" charset="0"/>
              <a:cs typeface="Times New Roman" pitchFamily="18" charset="0"/>
            </a:endParaRPr>
          </a:p>
          <a:p>
            <a:pPr>
              <a:lnSpc>
                <a:spcPct val="150000"/>
              </a:lnSpc>
            </a:pPr>
            <a:r>
              <a:rPr lang="en-US" sz="1800" b="1" dirty="0">
                <a:latin typeface="Times New Roman" pitchFamily="18" charset="0"/>
                <a:cs typeface="Times New Roman" pitchFamily="18" charset="0"/>
              </a:rPr>
              <a:t>INTRODUCTION</a:t>
            </a:r>
            <a:endParaRPr lang="en-US" sz="1800" dirty="0">
              <a:latin typeface="Times New Roman" pitchFamily="18" charset="0"/>
              <a:cs typeface="Times New Roman" pitchFamily="18" charset="0"/>
            </a:endParaRPr>
          </a:p>
          <a:p>
            <a:pPr>
              <a:lnSpc>
                <a:spcPct val="150000"/>
              </a:lnSpc>
            </a:pPr>
            <a:r>
              <a:rPr lang="en-US" sz="1800" b="1" dirty="0">
                <a:latin typeface="Times New Roman" pitchFamily="18" charset="0"/>
                <a:cs typeface="Times New Roman" pitchFamily="18" charset="0"/>
              </a:rPr>
              <a:t>LITERATURE SURVEY</a:t>
            </a:r>
          </a:p>
          <a:p>
            <a:pPr>
              <a:lnSpc>
                <a:spcPct val="150000"/>
              </a:lnSpc>
            </a:pPr>
            <a:r>
              <a:rPr lang="en-US" sz="1800" b="1" dirty="0">
                <a:latin typeface="Times New Roman" pitchFamily="18" charset="0"/>
                <a:cs typeface="Times New Roman" pitchFamily="18" charset="0"/>
              </a:rPr>
              <a:t>MOTIVATION</a:t>
            </a:r>
          </a:p>
          <a:p>
            <a:pPr>
              <a:lnSpc>
                <a:spcPct val="150000"/>
              </a:lnSpc>
            </a:pPr>
            <a:r>
              <a:rPr lang="en-US" sz="1800" b="1" dirty="0">
                <a:latin typeface="Times New Roman" pitchFamily="18" charset="0"/>
                <a:cs typeface="Times New Roman" pitchFamily="18" charset="0"/>
              </a:rPr>
              <a:t>OBJECTIVES</a:t>
            </a:r>
          </a:p>
          <a:p>
            <a:pPr>
              <a:lnSpc>
                <a:spcPct val="150000"/>
              </a:lnSpc>
            </a:pPr>
            <a:r>
              <a:rPr lang="en-US" sz="1800" b="1" dirty="0">
                <a:latin typeface="Times New Roman" pitchFamily="18" charset="0"/>
                <a:cs typeface="Times New Roman" pitchFamily="18" charset="0"/>
              </a:rPr>
              <a:t>PROBLEM STATEMENT</a:t>
            </a:r>
            <a:endParaRPr lang="en-US" sz="1800" dirty="0">
              <a:latin typeface="Times New Roman" pitchFamily="18" charset="0"/>
              <a:cs typeface="Times New Roman" pitchFamily="18" charset="0"/>
            </a:endParaRPr>
          </a:p>
          <a:p>
            <a:pPr>
              <a:lnSpc>
                <a:spcPct val="150000"/>
              </a:lnSpc>
            </a:pPr>
            <a:r>
              <a:rPr lang="en-US" sz="1800" b="1" dirty="0">
                <a:latin typeface="Times New Roman" pitchFamily="18" charset="0"/>
                <a:cs typeface="Times New Roman" pitchFamily="18" charset="0"/>
              </a:rPr>
              <a:t>REQUIREMENT ANALYSIS</a:t>
            </a:r>
            <a:endParaRPr lang="en-US" sz="1800" dirty="0">
              <a:latin typeface="Times New Roman" pitchFamily="18" charset="0"/>
              <a:cs typeface="Times New Roman" pitchFamily="18" charset="0"/>
            </a:endParaRPr>
          </a:p>
          <a:p>
            <a:pPr>
              <a:lnSpc>
                <a:spcPct val="150000"/>
              </a:lnSpc>
            </a:pPr>
            <a:r>
              <a:rPr lang="en-US" sz="1800" b="1" dirty="0">
                <a:latin typeface="Times New Roman" pitchFamily="18" charset="0"/>
                <a:cs typeface="Times New Roman" pitchFamily="18" charset="0"/>
              </a:rPr>
              <a:t>METHODOLOGY</a:t>
            </a:r>
          </a:p>
          <a:p>
            <a:pPr>
              <a:lnSpc>
                <a:spcPct val="150000"/>
              </a:lnSpc>
            </a:pPr>
            <a:r>
              <a:rPr lang="en-US" sz="1800" b="1" dirty="0">
                <a:latin typeface="Times New Roman" pitchFamily="18" charset="0"/>
                <a:cs typeface="Times New Roman" pitchFamily="18" charset="0"/>
              </a:rPr>
              <a:t>IMPLEMENTATIONS</a:t>
            </a:r>
          </a:p>
          <a:p>
            <a:pPr>
              <a:lnSpc>
                <a:spcPct val="150000"/>
              </a:lnSpc>
            </a:pPr>
            <a:r>
              <a:rPr lang="en-US" sz="1800" b="1" dirty="0">
                <a:latin typeface="Times New Roman" pitchFamily="18" charset="0"/>
                <a:cs typeface="Times New Roman" pitchFamily="18" charset="0"/>
              </a:rPr>
              <a:t>NEXT PHASE PLANS</a:t>
            </a:r>
          </a:p>
          <a:p>
            <a:pPr>
              <a:lnSpc>
                <a:spcPct val="150000"/>
              </a:lnSpc>
            </a:pPr>
            <a:r>
              <a:rPr lang="en-US" sz="1800" b="1" dirty="0">
                <a:latin typeface="Times New Roman" pitchFamily="18" charset="0"/>
                <a:cs typeface="Times New Roman" pitchFamily="18" charset="0"/>
              </a:rPr>
              <a:t>CONCLUSION AND FUTURE WORK</a:t>
            </a:r>
          </a:p>
          <a:p>
            <a:pPr>
              <a:lnSpc>
                <a:spcPct val="150000"/>
              </a:lnSpc>
            </a:pPr>
            <a:r>
              <a:rPr lang="en-US" sz="1800" b="1" dirty="0">
                <a:latin typeface="Times New Roman" pitchFamily="18" charset="0"/>
                <a:cs typeface="Times New Roman" pitchFamily="18" charset="0"/>
              </a:rPr>
              <a:t>REFERENCES</a:t>
            </a:r>
          </a:p>
        </p:txBody>
      </p:sp>
      <p:sp>
        <p:nvSpPr>
          <p:cNvPr id="5" name="TextBox 4"/>
          <p:cNvSpPr txBox="1"/>
          <p:nvPr/>
        </p:nvSpPr>
        <p:spPr>
          <a:xfrm>
            <a:off x="228600" y="6172200"/>
            <a:ext cx="8686800" cy="369332"/>
          </a:xfrm>
          <a:prstGeom prst="rect">
            <a:avLst/>
          </a:prstGeom>
          <a:noFill/>
        </p:spPr>
        <p:txBody>
          <a:bodyPr wrap="square" rtlCol="0">
            <a:spAutoFit/>
          </a:bodyPr>
          <a:lstStyle/>
          <a:p>
            <a:endParaRPr lang="en-US" dirty="0"/>
          </a:p>
        </p:txBody>
      </p:sp>
      <p:sp>
        <p:nvSpPr>
          <p:cNvPr id="6" name="TextBox 5"/>
          <p:cNvSpPr txBox="1"/>
          <p:nvPr/>
        </p:nvSpPr>
        <p:spPr>
          <a:xfrm>
            <a:off x="152400" y="6324600"/>
            <a:ext cx="8763000" cy="246221"/>
          </a:xfrm>
          <a:prstGeom prst="rect">
            <a:avLst/>
          </a:prstGeom>
          <a:noFill/>
        </p:spPr>
        <p:txBody>
          <a:bodyPr wrap="square" rtlCol="0">
            <a:spAutoFit/>
          </a:bodyPr>
          <a:lstStyle/>
          <a:p>
            <a:pPr algn="ctr"/>
            <a:r>
              <a:rPr lang="en-US" sz="1000" b="1" dirty="0">
                <a:latin typeface="Times New Roman" pitchFamily="18" charset="0"/>
                <a:cs typeface="Times New Roman" pitchFamily="18" charset="0"/>
              </a:rPr>
              <a:t>Dept of CSE, JCET, Hubballi			                    2025-2026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b="1" dirty="0">
                <a:latin typeface="Times New Roman" pitchFamily="18" charset="0"/>
                <a:cs typeface="Times New Roman" pitchFamily="18" charset="0"/>
              </a:rPr>
            </a:br>
            <a:r>
              <a:rPr lang="en-US" sz="4900" b="1" dirty="0">
                <a:solidFill>
                  <a:schemeClr val="accent2">
                    <a:lumMod val="75000"/>
                  </a:schemeClr>
                </a:solidFill>
                <a:latin typeface="Times New Roman" pitchFamily="18" charset="0"/>
                <a:cs typeface="Times New Roman" pitchFamily="18" charset="0"/>
              </a:rPr>
              <a:t>INTRODUCTION</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447800"/>
            <a:ext cx="8305800" cy="5029200"/>
          </a:xfrm>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Maternal health is a critical aspect of public health, especially in rural areas where healthcare services may be limited.</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 Many pregnant women face life-threatening complications during and post-pregnancy due to insufficient information about maternal health care. </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algn="just">
              <a:lnSpc>
                <a:spcPct val="150000"/>
              </a:lnSpc>
            </a:pPr>
            <a:r>
              <a:rPr lang="en-US" sz="1800" dirty="0">
                <a:latin typeface="Times New Roman" panose="02020603050405020304" pitchFamily="18" charset="0"/>
                <a:cs typeface="Times New Roman" panose="02020603050405020304" pitchFamily="18" charset="0"/>
              </a:rPr>
              <a:t>Addressing this information gap is essential to reduce preventable deaths among pregnant women and neonates.</a:t>
            </a:r>
          </a:p>
        </p:txBody>
      </p:sp>
      <p:sp>
        <p:nvSpPr>
          <p:cNvPr id="4" name="TextBox 3"/>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0DFAE-AF96-EE62-A845-976B0ECD6ADA}"/>
              </a:ext>
            </a:extLst>
          </p:cNvPr>
          <p:cNvSpPr>
            <a:spLocks noGrp="1"/>
          </p:cNvSpPr>
          <p:nvPr>
            <p:ph type="title"/>
          </p:nvPr>
        </p:nvSpPr>
        <p:spPr>
          <a:xfrm>
            <a:off x="152400" y="-76200"/>
            <a:ext cx="8229600" cy="1143000"/>
          </a:xfrm>
        </p:spPr>
        <p:txBody>
          <a:bodyPr/>
          <a:lstStyle/>
          <a:p>
            <a:pPr algn="l"/>
            <a:r>
              <a:rPr lang="en-US" sz="4400" b="1" dirty="0">
                <a:solidFill>
                  <a:schemeClr val="accent2">
                    <a:lumMod val="75000"/>
                  </a:schemeClr>
                </a:solidFill>
                <a:latin typeface="Times New Roman" pitchFamily="18" charset="0"/>
                <a:cs typeface="Times New Roman" pitchFamily="18" charset="0"/>
              </a:rPr>
              <a:t>LITERATURE SURVEY</a:t>
            </a:r>
            <a:endParaRPr lang="en-IN" dirty="0"/>
          </a:p>
        </p:txBody>
      </p:sp>
      <p:graphicFrame>
        <p:nvGraphicFramePr>
          <p:cNvPr id="4" name="Table 3">
            <a:extLst>
              <a:ext uri="{FF2B5EF4-FFF2-40B4-BE49-F238E27FC236}">
                <a16:creationId xmlns:a16="http://schemas.microsoft.com/office/drawing/2014/main" id="{5E1833EC-516C-C707-2894-39B28C8972AC}"/>
              </a:ext>
            </a:extLst>
          </p:cNvPr>
          <p:cNvGraphicFramePr>
            <a:graphicFrameLocks noGrp="1"/>
          </p:cNvGraphicFramePr>
          <p:nvPr>
            <p:extLst>
              <p:ext uri="{D42A27DB-BD31-4B8C-83A1-F6EECF244321}">
                <p14:modId xmlns:p14="http://schemas.microsoft.com/office/powerpoint/2010/main" val="3890565534"/>
              </p:ext>
            </p:extLst>
          </p:nvPr>
        </p:nvGraphicFramePr>
        <p:xfrm>
          <a:off x="381000" y="990600"/>
          <a:ext cx="8534400" cy="5090160"/>
        </p:xfrm>
        <a:graphic>
          <a:graphicData uri="http://schemas.openxmlformats.org/drawingml/2006/table">
            <a:tbl>
              <a:tblPr firstRow="1" bandRow="1"/>
              <a:tblGrid>
                <a:gridCol w="485697">
                  <a:extLst>
                    <a:ext uri="{9D8B030D-6E8A-4147-A177-3AD203B41FA5}">
                      <a16:colId xmlns:a16="http://schemas.microsoft.com/office/drawing/2014/main" val="2058541215"/>
                    </a:ext>
                  </a:extLst>
                </a:gridCol>
                <a:gridCol w="1387708">
                  <a:extLst>
                    <a:ext uri="{9D8B030D-6E8A-4147-A177-3AD203B41FA5}">
                      <a16:colId xmlns:a16="http://schemas.microsoft.com/office/drawing/2014/main" val="1322657868"/>
                    </a:ext>
                  </a:extLst>
                </a:gridCol>
                <a:gridCol w="1784195">
                  <a:extLst>
                    <a:ext uri="{9D8B030D-6E8A-4147-A177-3AD203B41FA5}">
                      <a16:colId xmlns:a16="http://schemas.microsoft.com/office/drawing/2014/main" val="3812252633"/>
                    </a:ext>
                  </a:extLst>
                </a:gridCol>
                <a:gridCol w="1706880">
                  <a:extLst>
                    <a:ext uri="{9D8B030D-6E8A-4147-A177-3AD203B41FA5}">
                      <a16:colId xmlns:a16="http://schemas.microsoft.com/office/drawing/2014/main" val="55283655"/>
                    </a:ext>
                  </a:extLst>
                </a:gridCol>
                <a:gridCol w="1219200">
                  <a:extLst>
                    <a:ext uri="{9D8B030D-6E8A-4147-A177-3AD203B41FA5}">
                      <a16:colId xmlns:a16="http://schemas.microsoft.com/office/drawing/2014/main" val="3190571328"/>
                    </a:ext>
                  </a:extLst>
                </a:gridCol>
                <a:gridCol w="1950720">
                  <a:extLst>
                    <a:ext uri="{9D8B030D-6E8A-4147-A177-3AD203B41FA5}">
                      <a16:colId xmlns:a16="http://schemas.microsoft.com/office/drawing/2014/main" val="1525676916"/>
                    </a:ext>
                  </a:extLst>
                </a:gridCol>
              </a:tblGrid>
              <a:tr h="423333">
                <a:tc>
                  <a:txBody>
                    <a:bodyPr/>
                    <a:lstStyle/>
                    <a:p>
                      <a:r>
                        <a:rPr lang="en-US" sz="1400" b="1" dirty="0">
                          <a:solidFill>
                            <a:schemeClr val="tx1"/>
                          </a:solidFill>
                        </a:rPr>
                        <a:t> sl. no.</a:t>
                      </a:r>
                      <a:endParaRPr lang="en-IN" sz="1400" b="1" dirty="0">
                        <a:solidFill>
                          <a:schemeClr val="tx1"/>
                        </a:solidFill>
                      </a:endParaRPr>
                    </a:p>
                  </a:txBody>
                  <a:tcPr>
                    <a:solidFill>
                      <a:schemeClr val="tx2">
                        <a:lumMod val="20000"/>
                        <a:lumOff val="80000"/>
                      </a:schemeClr>
                    </a:solidFill>
                  </a:tcPr>
                </a:tc>
                <a:tc>
                  <a:txBody>
                    <a:bodyPr/>
                    <a:lstStyle/>
                    <a:p>
                      <a:r>
                        <a:rPr lang="en-US" sz="1400" b="1" dirty="0">
                          <a:solidFill>
                            <a:schemeClr val="tx1"/>
                          </a:solidFill>
                        </a:rPr>
                        <a:t>Author name</a:t>
                      </a:r>
                      <a:endParaRPr lang="en-IN" sz="1400" b="1" dirty="0">
                        <a:solidFill>
                          <a:schemeClr val="tx1"/>
                        </a:solidFill>
                      </a:endParaRPr>
                    </a:p>
                  </a:txBody>
                  <a:tcPr>
                    <a:solidFill>
                      <a:schemeClr val="tx2">
                        <a:lumMod val="20000"/>
                        <a:lumOff val="80000"/>
                      </a:schemeClr>
                    </a:solidFill>
                  </a:tcPr>
                </a:tc>
                <a:tc>
                  <a:txBody>
                    <a:bodyPr/>
                    <a:lstStyle/>
                    <a:p>
                      <a:r>
                        <a:rPr lang="en-US" sz="1400" b="1" dirty="0">
                          <a:solidFill>
                            <a:schemeClr val="tx1"/>
                          </a:solidFill>
                        </a:rPr>
                        <a:t>Title</a:t>
                      </a:r>
                      <a:endParaRPr lang="en-IN" sz="1400" b="1" dirty="0">
                        <a:solidFill>
                          <a:schemeClr val="tx1"/>
                        </a:solidFill>
                      </a:endParaRPr>
                    </a:p>
                  </a:txBody>
                  <a:tcPr>
                    <a:solidFill>
                      <a:schemeClr val="tx2">
                        <a:lumMod val="20000"/>
                        <a:lumOff val="80000"/>
                      </a:schemeClr>
                    </a:solidFill>
                  </a:tcPr>
                </a:tc>
                <a:tc>
                  <a:txBody>
                    <a:bodyPr/>
                    <a:lstStyle/>
                    <a:p>
                      <a:r>
                        <a:rPr lang="en-US" sz="1400" b="1" dirty="0">
                          <a:solidFill>
                            <a:schemeClr val="tx1"/>
                          </a:solidFill>
                        </a:rPr>
                        <a:t>Algorithm used </a:t>
                      </a:r>
                      <a:endParaRPr lang="en-IN" sz="1400" b="1" dirty="0">
                        <a:solidFill>
                          <a:schemeClr val="tx1"/>
                        </a:solidFill>
                      </a:endParaRPr>
                    </a:p>
                  </a:txBody>
                  <a:tcPr>
                    <a:solidFill>
                      <a:schemeClr val="tx2">
                        <a:lumMod val="20000"/>
                        <a:lumOff val="80000"/>
                      </a:schemeClr>
                    </a:solidFill>
                  </a:tcPr>
                </a:tc>
                <a:tc>
                  <a:txBody>
                    <a:bodyPr/>
                    <a:lstStyle/>
                    <a:p>
                      <a:r>
                        <a:rPr lang="en-US" sz="1400" b="1" dirty="0">
                          <a:solidFill>
                            <a:schemeClr val="tx1"/>
                          </a:solidFill>
                        </a:rPr>
                        <a:t>Published year</a:t>
                      </a:r>
                      <a:endParaRPr lang="en-IN" sz="1400" b="1" dirty="0">
                        <a:solidFill>
                          <a:schemeClr val="tx1"/>
                        </a:solidFill>
                      </a:endParaRPr>
                    </a:p>
                  </a:txBody>
                  <a:tcPr>
                    <a:solidFill>
                      <a:schemeClr val="tx2">
                        <a:lumMod val="20000"/>
                        <a:lumOff val="80000"/>
                      </a:schemeClr>
                    </a:solidFill>
                  </a:tcPr>
                </a:tc>
                <a:tc>
                  <a:txBody>
                    <a:bodyPr/>
                    <a:lstStyle/>
                    <a:p>
                      <a:r>
                        <a:rPr lang="en-US" sz="1400" b="1" dirty="0">
                          <a:solidFill>
                            <a:schemeClr val="tx1"/>
                          </a:solidFill>
                        </a:rPr>
                        <a:t>Result</a:t>
                      </a:r>
                      <a:endParaRPr lang="en-IN" sz="1400" b="1" dirty="0">
                        <a:solidFill>
                          <a:schemeClr val="tx1"/>
                        </a:solidFill>
                      </a:endParaRPr>
                    </a:p>
                  </a:txBody>
                  <a:tcPr>
                    <a:solidFill>
                      <a:schemeClr val="tx2">
                        <a:lumMod val="20000"/>
                        <a:lumOff val="80000"/>
                      </a:schemeClr>
                    </a:solidFill>
                  </a:tcPr>
                </a:tc>
                <a:extLst>
                  <a:ext uri="{0D108BD9-81ED-4DB2-BD59-A6C34878D82A}">
                    <a16:rowId xmlns:a16="http://schemas.microsoft.com/office/drawing/2014/main" val="3599975632"/>
                  </a:ext>
                </a:extLst>
              </a:tr>
              <a:tr h="1100667">
                <a:tc>
                  <a:txBody>
                    <a:bodyPr/>
                    <a:lstStyle/>
                    <a:p>
                      <a:r>
                        <a:rPr lang="en-US" sz="1200" dirty="0">
                          <a:solidFill>
                            <a:schemeClr val="tx1"/>
                          </a:solidFill>
                        </a:rPr>
                        <a:t>1</a:t>
                      </a:r>
                      <a:endParaRPr lang="en-IN" sz="1200" dirty="0">
                        <a:solidFill>
                          <a:schemeClr val="tx1"/>
                        </a:solidFill>
                      </a:endParaRPr>
                    </a:p>
                  </a:txBody>
                  <a:tcPr/>
                </a:tc>
                <a:tc>
                  <a:txBody>
                    <a:bodyPr/>
                    <a:lstStyle/>
                    <a:p>
                      <a:r>
                        <a:rPr lang="en-IN" sz="1200" kern="1200" dirty="0">
                          <a:solidFill>
                            <a:schemeClr val="tx1"/>
                          </a:solidFill>
                          <a:effectLst/>
                        </a:rPr>
                        <a:t>L. Adeola, C. </a:t>
                      </a:r>
                      <a:r>
                        <a:rPr lang="en-IN" sz="1200" kern="1200" dirty="0" err="1">
                          <a:solidFill>
                            <a:schemeClr val="tx1"/>
                          </a:solidFill>
                          <a:effectLst/>
                        </a:rPr>
                        <a:t>Iwendi</a:t>
                      </a:r>
                      <a:r>
                        <a:rPr lang="en-IN" sz="1200" kern="1200" dirty="0">
                          <a:solidFill>
                            <a:schemeClr val="tx1"/>
                          </a:solidFill>
                          <a:effectLst/>
                        </a:rPr>
                        <a:t> and K. </a:t>
                      </a:r>
                      <a:r>
                        <a:rPr lang="en-IN" sz="1200" kern="1200" dirty="0" err="1">
                          <a:solidFill>
                            <a:schemeClr val="tx1"/>
                          </a:solidFill>
                          <a:effectLst/>
                        </a:rPr>
                        <a:t>Akeren</a:t>
                      </a:r>
                      <a:endParaRPr lang="en-IN" sz="12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rPr>
                        <a:t>Using Machine Learning to Predict and Monitor Maternal Health Risk: A Case Study of Materna – an End User Web Application</a:t>
                      </a:r>
                      <a:endParaRPr lang="en-IN" sz="1200" dirty="0">
                        <a:solidFill>
                          <a:schemeClr val="tx1"/>
                        </a:solidFill>
                      </a:endParaRPr>
                    </a:p>
                    <a:p>
                      <a:endParaRPr lang="en-IN" sz="1200" dirty="0">
                        <a:solidFill>
                          <a:schemeClr val="tx1"/>
                        </a:solidFill>
                      </a:endParaRPr>
                    </a:p>
                  </a:txBody>
                  <a:tcPr/>
                </a:tc>
                <a:tc>
                  <a:txBody>
                    <a:bodyPr/>
                    <a:lstStyle/>
                    <a:p>
                      <a:r>
                        <a:rPr lang="en-US" sz="1200" dirty="0">
                          <a:solidFill>
                            <a:schemeClr val="tx1"/>
                          </a:solidFill>
                        </a:rPr>
                        <a:t>decision trees, KNN, Random Forest, Neural Network, AdaBoost, </a:t>
                      </a:r>
                      <a:r>
                        <a:rPr lang="en-US" sz="1200" dirty="0" err="1">
                          <a:solidFill>
                            <a:schemeClr val="tx1"/>
                          </a:solidFill>
                        </a:rPr>
                        <a:t>XGBoost</a:t>
                      </a:r>
                      <a:r>
                        <a:rPr lang="en-US" sz="1200" dirty="0">
                          <a:solidFill>
                            <a:schemeClr val="tx1"/>
                          </a:solidFill>
                        </a:rPr>
                        <a:t>, </a:t>
                      </a:r>
                      <a:r>
                        <a:rPr lang="en-US" sz="1200" dirty="0" err="1">
                          <a:solidFill>
                            <a:schemeClr val="tx1"/>
                          </a:solidFill>
                        </a:rPr>
                        <a:t>CatBoost</a:t>
                      </a:r>
                      <a:r>
                        <a:rPr lang="en-US" sz="1200" dirty="0">
                          <a:solidFill>
                            <a:schemeClr val="tx1"/>
                          </a:solidFill>
                        </a:rPr>
                        <a:t> and Stochastic Gradient Boosting</a:t>
                      </a:r>
                      <a:endParaRPr lang="en-IN" sz="1200" dirty="0">
                        <a:solidFill>
                          <a:schemeClr val="tx1"/>
                        </a:solidFill>
                      </a:endParaRPr>
                    </a:p>
                  </a:txBody>
                  <a:tcPr/>
                </a:tc>
                <a:tc>
                  <a:txBody>
                    <a:bodyPr/>
                    <a:lstStyle/>
                    <a:p>
                      <a:r>
                        <a:rPr lang="en-IN" sz="1200" b="0" kern="1200" dirty="0">
                          <a:solidFill>
                            <a:schemeClr val="tx1"/>
                          </a:solidFill>
                          <a:effectLst/>
                          <a:latin typeface="+mn-lt"/>
                          <a:ea typeface="+mn-ea"/>
                          <a:cs typeface="+mn-cs"/>
                        </a:rPr>
                        <a:t>2025(IEEE) </a:t>
                      </a:r>
                      <a:endParaRPr lang="en-IN" sz="1200" dirty="0">
                        <a:solidFill>
                          <a:schemeClr val="tx1"/>
                        </a:solidFill>
                      </a:endParaRPr>
                    </a:p>
                  </a:txBody>
                  <a:tcPr/>
                </a:tc>
                <a:tc>
                  <a:txBody>
                    <a:bodyPr/>
                    <a:lstStyle/>
                    <a:p>
                      <a:r>
                        <a:rPr lang="en-US" sz="1200" dirty="0">
                          <a:solidFill>
                            <a:schemeClr val="tx1"/>
                          </a:solidFill>
                        </a:rPr>
                        <a:t>Machine learning web application that will be able to detect maternal health with an accuracy of 84%.</a:t>
                      </a:r>
                      <a:endParaRPr lang="en-IN" sz="1200" dirty="0">
                        <a:solidFill>
                          <a:schemeClr val="tx1"/>
                        </a:solidFill>
                      </a:endParaRPr>
                    </a:p>
                  </a:txBody>
                  <a:tcPr/>
                </a:tc>
                <a:extLst>
                  <a:ext uri="{0D108BD9-81ED-4DB2-BD59-A6C34878D82A}">
                    <a16:rowId xmlns:a16="http://schemas.microsoft.com/office/drawing/2014/main" val="556393376"/>
                  </a:ext>
                </a:extLst>
              </a:tr>
              <a:tr h="628227">
                <a:tc>
                  <a:txBody>
                    <a:bodyPr/>
                    <a:lstStyle/>
                    <a:p>
                      <a:r>
                        <a:rPr lang="en-US" sz="1200" dirty="0">
                          <a:solidFill>
                            <a:schemeClr val="tx1"/>
                          </a:solidFill>
                        </a:rPr>
                        <a:t>2</a:t>
                      </a:r>
                      <a:endParaRPr lang="en-IN" sz="12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kern="1200" dirty="0">
                          <a:solidFill>
                            <a:schemeClr val="tx1"/>
                          </a:solidFill>
                          <a:effectLst/>
                          <a:latin typeface="+mn-lt"/>
                          <a:ea typeface="+mn-ea"/>
                          <a:cs typeface="+mn-cs"/>
                        </a:rPr>
                        <a:t>H. A. Shifa, M. U. </a:t>
                      </a:r>
                      <a:r>
                        <a:rPr lang="en-IN" sz="1200" b="0" kern="1200" dirty="0" err="1">
                          <a:solidFill>
                            <a:schemeClr val="tx1"/>
                          </a:solidFill>
                          <a:effectLst/>
                          <a:latin typeface="+mn-lt"/>
                          <a:ea typeface="+mn-ea"/>
                          <a:cs typeface="+mn-cs"/>
                        </a:rPr>
                        <a:t>Mojumdar</a:t>
                      </a:r>
                      <a:r>
                        <a:rPr lang="en-IN" sz="1200" b="0" kern="1200" dirty="0">
                          <a:solidFill>
                            <a:schemeClr val="tx1"/>
                          </a:solidFill>
                          <a:effectLst/>
                          <a:latin typeface="+mn-lt"/>
                          <a:ea typeface="+mn-ea"/>
                          <a:cs typeface="+mn-cs"/>
                        </a:rPr>
                        <a:t>, M. M. Rahman, N. R. Chakraborty and V. Gupta </a:t>
                      </a:r>
                      <a:endParaRPr lang="en-IN" sz="1200" b="0" dirty="0">
                        <a:solidFill>
                          <a:schemeClr val="tx1"/>
                        </a:solidFill>
                      </a:endParaRPr>
                    </a:p>
                    <a:p>
                      <a:endParaRPr lang="en-IN" sz="12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kern="1200" dirty="0">
                          <a:solidFill>
                            <a:schemeClr val="tx1"/>
                          </a:solidFill>
                          <a:effectLst/>
                          <a:latin typeface="+mn-lt"/>
                          <a:ea typeface="+mn-ea"/>
                          <a:cs typeface="+mn-cs"/>
                        </a:rPr>
                        <a:t>Machine Learning Models for Maternal Health Risk Prediction based on Clinical Data.</a:t>
                      </a:r>
                      <a:endParaRPr lang="en-IN" sz="1200" b="0" dirty="0">
                        <a:solidFill>
                          <a:schemeClr val="tx1"/>
                        </a:solidFill>
                      </a:endParaRPr>
                    </a:p>
                    <a:p>
                      <a:endParaRPr lang="en-IN" sz="1200" dirty="0">
                        <a:solidFill>
                          <a:schemeClr val="tx1"/>
                        </a:solidFill>
                      </a:endParaRPr>
                    </a:p>
                  </a:txBody>
                  <a:tcPr/>
                </a:tc>
                <a:tc>
                  <a:txBody>
                    <a:bodyPr/>
                    <a:lstStyle/>
                    <a:p>
                      <a:r>
                        <a:rPr lang="en-US" sz="1200" dirty="0">
                          <a:solidFill>
                            <a:schemeClr val="tx1"/>
                          </a:solidFill>
                        </a:rPr>
                        <a:t>ANN algorithm , Nave Bayes approach ,</a:t>
                      </a:r>
                      <a:r>
                        <a:rPr lang="en-IN" sz="1200" dirty="0">
                          <a:solidFill>
                            <a:schemeClr val="tx1"/>
                          </a:solidFill>
                        </a:rPr>
                        <a:t> K-Nearest </a:t>
                      </a:r>
                      <a:r>
                        <a:rPr lang="en-IN" sz="1200" dirty="0" err="1">
                          <a:solidFill>
                            <a:schemeClr val="tx1"/>
                          </a:solidFill>
                        </a:rPr>
                        <a:t>Neighbors</a:t>
                      </a:r>
                      <a:r>
                        <a:rPr lang="en-IN" sz="1200" dirty="0">
                          <a:solidFill>
                            <a:schemeClr val="tx1"/>
                          </a:solidFill>
                        </a:rPr>
                        <a:t>, dimension reduction </a:t>
                      </a:r>
                    </a:p>
                  </a:txBody>
                  <a:tcPr/>
                </a:tc>
                <a:tc>
                  <a:txBody>
                    <a:bodyPr/>
                    <a:lstStyle/>
                    <a:p>
                      <a:r>
                        <a:rPr lang="en-IN" sz="1200" b="0" kern="1200" dirty="0">
                          <a:solidFill>
                            <a:schemeClr val="tx1"/>
                          </a:solidFill>
                          <a:effectLst/>
                          <a:latin typeface="+mn-lt"/>
                          <a:ea typeface="+mn-ea"/>
                          <a:cs typeface="+mn-cs"/>
                        </a:rPr>
                        <a:t>2024(IEEE) </a:t>
                      </a:r>
                      <a:endParaRPr lang="en-IN" sz="1200" dirty="0">
                        <a:solidFill>
                          <a:schemeClr val="tx1"/>
                        </a:solidFill>
                      </a:endParaRPr>
                    </a:p>
                  </a:txBody>
                  <a:tcPr/>
                </a:tc>
                <a:tc>
                  <a:txBody>
                    <a:bodyPr/>
                    <a:lstStyle/>
                    <a:p>
                      <a:r>
                        <a:rPr lang="en-US" sz="1200" dirty="0">
                          <a:solidFill>
                            <a:schemeClr val="tx1"/>
                          </a:solidFill>
                        </a:rPr>
                        <a:t>The ANN algorithm had an accuracy rate of 80%, whereas the Nave Bayes approach had a marginally lower accuracy rate of 70%. </a:t>
                      </a:r>
                      <a:endParaRPr lang="en-IN" sz="1200" dirty="0">
                        <a:solidFill>
                          <a:schemeClr val="tx1"/>
                        </a:solidFill>
                      </a:endParaRPr>
                    </a:p>
                  </a:txBody>
                  <a:tcPr/>
                </a:tc>
                <a:extLst>
                  <a:ext uri="{0D108BD9-81ED-4DB2-BD59-A6C34878D82A}">
                    <a16:rowId xmlns:a16="http://schemas.microsoft.com/office/drawing/2014/main" val="3196535471"/>
                  </a:ext>
                </a:extLst>
              </a:tr>
              <a:tr h="973667">
                <a:tc>
                  <a:txBody>
                    <a:bodyPr/>
                    <a:lstStyle/>
                    <a:p>
                      <a:r>
                        <a:rPr lang="en-US" sz="1200" dirty="0">
                          <a:solidFill>
                            <a:schemeClr val="tx1"/>
                          </a:solidFill>
                        </a:rPr>
                        <a:t>3</a:t>
                      </a:r>
                      <a:endParaRPr lang="en-IN" sz="1200" dirty="0">
                        <a:solidFill>
                          <a:schemeClr val="tx1"/>
                        </a:solidFill>
                      </a:endParaRPr>
                    </a:p>
                  </a:txBody>
                  <a:tcPr/>
                </a:tc>
                <a:tc>
                  <a:txBody>
                    <a:bodyPr/>
                    <a:lstStyle/>
                    <a:p>
                      <a:r>
                        <a:rPr lang="en-IN" sz="1200" b="0" kern="1200" dirty="0">
                          <a:solidFill>
                            <a:schemeClr val="tx1"/>
                          </a:solidFill>
                          <a:effectLst/>
                          <a:latin typeface="+mn-lt"/>
                          <a:ea typeface="+mn-ea"/>
                          <a:cs typeface="+mn-cs"/>
                        </a:rPr>
                        <a:t>M. Ahmed and M. A. Kashem</a:t>
                      </a:r>
                      <a:endParaRPr lang="en-IN" sz="1200" dirty="0">
                        <a:solidFill>
                          <a:schemeClr val="tx1"/>
                        </a:solidFill>
                      </a:endParaRPr>
                    </a:p>
                  </a:txBody>
                  <a:tcPr/>
                </a:tc>
                <a:tc>
                  <a:txBody>
                    <a:bodyPr/>
                    <a:lstStyle/>
                    <a:p>
                      <a:r>
                        <a:rPr lang="en-IN" sz="1200" b="0" kern="1200" dirty="0">
                          <a:solidFill>
                            <a:schemeClr val="tx1"/>
                          </a:solidFill>
                          <a:effectLst/>
                          <a:latin typeface="+mn-lt"/>
                          <a:ea typeface="+mn-ea"/>
                          <a:cs typeface="+mn-cs"/>
                        </a:rPr>
                        <a:t>IoT Based Risk Level Prediction Model For Maternal Health Care In The Context Of Bangladesh</a:t>
                      </a:r>
                      <a:endParaRPr lang="en-IN" sz="1200" dirty="0">
                        <a:solidFill>
                          <a:schemeClr val="tx1"/>
                        </a:solidFill>
                      </a:endParaRPr>
                    </a:p>
                  </a:txBody>
                  <a:tcPr/>
                </a:tc>
                <a:tc>
                  <a:txBody>
                    <a:bodyPr/>
                    <a:lstStyle/>
                    <a:p>
                      <a:r>
                        <a:rPr lang="en-IN" sz="1200" b="0" i="0" kern="1200" dirty="0" err="1">
                          <a:solidFill>
                            <a:schemeClr val="tx1"/>
                          </a:solidFill>
                          <a:effectLst/>
                          <a:latin typeface="+mn-lt"/>
                          <a:ea typeface="+mn-ea"/>
                          <a:cs typeface="+mn-cs"/>
                        </a:rPr>
                        <a:t>GridSearchCV</a:t>
                      </a:r>
                      <a:r>
                        <a:rPr lang="en-IN" sz="1200" b="0" i="0" kern="1200" dirty="0">
                          <a:solidFill>
                            <a:schemeClr val="tx1"/>
                          </a:solidFill>
                          <a:effectLst/>
                          <a:latin typeface="+mn-lt"/>
                          <a:ea typeface="+mn-ea"/>
                          <a:cs typeface="+mn-cs"/>
                        </a:rPr>
                        <a:t>, decision tree</a:t>
                      </a:r>
                      <a:endParaRPr lang="en-IN" sz="1200" dirty="0">
                        <a:solidFill>
                          <a:schemeClr val="tx1"/>
                        </a:solidFill>
                      </a:endParaRPr>
                    </a:p>
                  </a:txBody>
                  <a:tcPr/>
                </a:tc>
                <a:tc>
                  <a:txBody>
                    <a:bodyPr/>
                    <a:lstStyle/>
                    <a:p>
                      <a:r>
                        <a:rPr lang="en-IN" sz="1200" kern="1200" dirty="0">
                          <a:solidFill>
                            <a:schemeClr val="tx1"/>
                          </a:solidFill>
                          <a:effectLst/>
                          <a:latin typeface="+mn-lt"/>
                          <a:ea typeface="+mn-ea"/>
                          <a:cs typeface="+mn-cs"/>
                        </a:rPr>
                        <a:t>2020(IEEE) </a:t>
                      </a:r>
                      <a:endParaRPr lang="en-IN" sz="1200" dirty="0">
                        <a:solidFill>
                          <a:schemeClr val="tx1"/>
                        </a:solidFill>
                      </a:endParaRPr>
                    </a:p>
                  </a:txBody>
                  <a:tcPr/>
                </a:tc>
                <a:tc>
                  <a:txBody>
                    <a:bodyPr/>
                    <a:lstStyle/>
                    <a:p>
                      <a:r>
                        <a:rPr lang="en-US" sz="1200" b="0" i="0" kern="1200" dirty="0">
                          <a:solidFill>
                            <a:schemeClr val="tx1"/>
                          </a:solidFill>
                          <a:effectLst/>
                          <a:latin typeface="+mn-lt"/>
                          <a:ea typeface="+mn-ea"/>
                          <a:cs typeface="+mn-cs"/>
                        </a:rPr>
                        <a:t>Decision Tree Algorithm gives the highest accuracy and the numeric value of this accuracy is 97%</a:t>
                      </a:r>
                      <a:endParaRPr lang="en-IN" sz="1200" dirty="0">
                        <a:solidFill>
                          <a:schemeClr val="tx1"/>
                        </a:solidFill>
                      </a:endParaRPr>
                    </a:p>
                  </a:txBody>
                  <a:tcPr/>
                </a:tc>
                <a:extLst>
                  <a:ext uri="{0D108BD9-81ED-4DB2-BD59-A6C34878D82A}">
                    <a16:rowId xmlns:a16="http://schemas.microsoft.com/office/drawing/2014/main" val="1245134861"/>
                  </a:ext>
                </a:extLst>
              </a:tr>
              <a:tr h="973667">
                <a:tc>
                  <a:txBody>
                    <a:bodyPr/>
                    <a:lstStyle/>
                    <a:p>
                      <a:r>
                        <a:rPr lang="en-US" sz="1200" dirty="0">
                          <a:solidFill>
                            <a:schemeClr val="tx1"/>
                          </a:solidFill>
                        </a:rPr>
                        <a:t>4</a:t>
                      </a:r>
                      <a:endParaRPr lang="en-IN" sz="1200" dirty="0">
                        <a:solidFill>
                          <a:schemeClr val="tx1"/>
                        </a:solidFill>
                      </a:endParaRPr>
                    </a:p>
                  </a:txBody>
                  <a:tcPr/>
                </a:tc>
                <a:tc>
                  <a:txBody>
                    <a:bodyPr/>
                    <a:lstStyle/>
                    <a:p>
                      <a:r>
                        <a:rPr lang="en-IN" sz="1200" dirty="0">
                          <a:solidFill>
                            <a:schemeClr val="tx1"/>
                          </a:solidFill>
                        </a:rPr>
                        <a:t>Anurag Kumar , Raj Gaurang Tiwari</a:t>
                      </a:r>
                    </a:p>
                  </a:txBody>
                  <a:tcPr/>
                </a:tc>
                <a:tc>
                  <a:txBody>
                    <a:bodyPr/>
                    <a:lstStyle/>
                    <a:p>
                      <a:r>
                        <a:rPr lang="en-US" sz="1200" dirty="0">
                          <a:solidFill>
                            <a:schemeClr val="tx1"/>
                          </a:solidFill>
                        </a:rPr>
                        <a:t>Exploratory Data Analysis and Explainable Machine Learning for Classification of Maternal Health Risk Levels</a:t>
                      </a:r>
                      <a:endParaRPr lang="en-IN" sz="1200" dirty="0">
                        <a:solidFill>
                          <a:schemeClr val="tx1"/>
                        </a:solidFill>
                      </a:endParaRPr>
                    </a:p>
                  </a:txBody>
                  <a:tcPr/>
                </a:tc>
                <a:tc>
                  <a:txBody>
                    <a:bodyPr/>
                    <a:lstStyle/>
                    <a:p>
                      <a:r>
                        <a:rPr lang="en-US" sz="1200" dirty="0">
                          <a:solidFill>
                            <a:schemeClr val="tx1"/>
                          </a:solidFill>
                        </a:rPr>
                        <a:t>decision trees, Logistic Regression, Random Forest,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XGBoost</a:t>
                      </a:r>
                      <a:endParaRPr lang="en-IN" sz="1200" dirty="0">
                        <a:solidFill>
                          <a:schemeClr val="tx1"/>
                        </a:solidFill>
                      </a:endParaRPr>
                    </a:p>
                  </a:txBody>
                  <a:tcPr/>
                </a:tc>
                <a:tc>
                  <a:txBody>
                    <a:bodyPr/>
                    <a:lstStyle/>
                    <a:p>
                      <a:r>
                        <a:rPr lang="en-US" sz="1200" dirty="0">
                          <a:solidFill>
                            <a:schemeClr val="tx1"/>
                          </a:solidFill>
                        </a:rPr>
                        <a:t>2023(IEEE)</a:t>
                      </a:r>
                      <a:endParaRPr lang="en-IN" sz="12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The Random Forest model achieved an accuracy of 94.26%. </a:t>
                      </a:r>
                      <a:endParaRPr lang="en-IN" sz="1200" dirty="0">
                        <a:solidFill>
                          <a:schemeClr val="tx1"/>
                        </a:solidFill>
                      </a:endParaRPr>
                    </a:p>
                    <a:p>
                      <a:endParaRPr lang="en-IN" sz="1200" dirty="0">
                        <a:solidFill>
                          <a:schemeClr val="tx1"/>
                        </a:solidFill>
                      </a:endParaRPr>
                    </a:p>
                  </a:txBody>
                  <a:tcPr/>
                </a:tc>
                <a:extLst>
                  <a:ext uri="{0D108BD9-81ED-4DB2-BD59-A6C34878D82A}">
                    <a16:rowId xmlns:a16="http://schemas.microsoft.com/office/drawing/2014/main" val="3981142709"/>
                  </a:ext>
                </a:extLst>
              </a:tr>
            </a:tbl>
          </a:graphicData>
        </a:graphic>
      </p:graphicFrame>
      <p:sp>
        <p:nvSpPr>
          <p:cNvPr id="6" name="TextBox 5">
            <a:extLst>
              <a:ext uri="{FF2B5EF4-FFF2-40B4-BE49-F238E27FC236}">
                <a16:creationId xmlns:a16="http://schemas.microsoft.com/office/drawing/2014/main" id="{37CD9B68-34C9-5A22-D214-413ED9F9217F}"/>
              </a:ext>
            </a:extLst>
          </p:cNvPr>
          <p:cNvSpPr txBox="1"/>
          <p:nvPr/>
        </p:nvSpPr>
        <p:spPr>
          <a:xfrm>
            <a:off x="381000" y="6477000"/>
            <a:ext cx="8534400" cy="253916"/>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r>
              <a:rPr lang="en-US" sz="1000" b="1" dirty="0">
                <a:latin typeface="Times New Roman" pitchFamily="18" charset="0"/>
                <a:cs typeface="Times New Roman" pitchFamily="18" charset="0"/>
              </a:rPr>
              <a:t>Dept of CSE, JCET, Hubballi		                                       2025-2026                                                                                                             3         </a:t>
            </a:r>
          </a:p>
        </p:txBody>
      </p:sp>
    </p:spTree>
    <p:extLst>
      <p:ext uri="{BB962C8B-B14F-4D97-AF65-F5344CB8AC3E}">
        <p14:creationId xmlns:p14="http://schemas.microsoft.com/office/powerpoint/2010/main" val="3191743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8ACF03F-727E-7597-26CE-71C547237386}"/>
              </a:ext>
            </a:extLst>
          </p:cNvPr>
          <p:cNvGraphicFramePr>
            <a:graphicFrameLocks noGrp="1"/>
          </p:cNvGraphicFramePr>
          <p:nvPr>
            <p:extLst>
              <p:ext uri="{D42A27DB-BD31-4B8C-83A1-F6EECF244321}">
                <p14:modId xmlns:p14="http://schemas.microsoft.com/office/powerpoint/2010/main" val="2347530638"/>
              </p:ext>
            </p:extLst>
          </p:nvPr>
        </p:nvGraphicFramePr>
        <p:xfrm>
          <a:off x="381000" y="838200"/>
          <a:ext cx="8534400" cy="3383280"/>
        </p:xfrm>
        <a:graphic>
          <a:graphicData uri="http://schemas.openxmlformats.org/drawingml/2006/table">
            <a:tbl>
              <a:tblPr firstRow="1" bandRow="1"/>
              <a:tblGrid>
                <a:gridCol w="485697">
                  <a:extLst>
                    <a:ext uri="{9D8B030D-6E8A-4147-A177-3AD203B41FA5}">
                      <a16:colId xmlns:a16="http://schemas.microsoft.com/office/drawing/2014/main" val="3236255509"/>
                    </a:ext>
                  </a:extLst>
                </a:gridCol>
                <a:gridCol w="1387708">
                  <a:extLst>
                    <a:ext uri="{9D8B030D-6E8A-4147-A177-3AD203B41FA5}">
                      <a16:colId xmlns:a16="http://schemas.microsoft.com/office/drawing/2014/main" val="1972915702"/>
                    </a:ext>
                  </a:extLst>
                </a:gridCol>
                <a:gridCol w="1784195">
                  <a:extLst>
                    <a:ext uri="{9D8B030D-6E8A-4147-A177-3AD203B41FA5}">
                      <a16:colId xmlns:a16="http://schemas.microsoft.com/office/drawing/2014/main" val="2456558175"/>
                    </a:ext>
                  </a:extLst>
                </a:gridCol>
                <a:gridCol w="1706880">
                  <a:extLst>
                    <a:ext uri="{9D8B030D-6E8A-4147-A177-3AD203B41FA5}">
                      <a16:colId xmlns:a16="http://schemas.microsoft.com/office/drawing/2014/main" val="3405159003"/>
                    </a:ext>
                  </a:extLst>
                </a:gridCol>
                <a:gridCol w="1219200">
                  <a:extLst>
                    <a:ext uri="{9D8B030D-6E8A-4147-A177-3AD203B41FA5}">
                      <a16:colId xmlns:a16="http://schemas.microsoft.com/office/drawing/2014/main" val="713404106"/>
                    </a:ext>
                  </a:extLst>
                </a:gridCol>
                <a:gridCol w="1950720">
                  <a:extLst>
                    <a:ext uri="{9D8B030D-6E8A-4147-A177-3AD203B41FA5}">
                      <a16:colId xmlns:a16="http://schemas.microsoft.com/office/drawing/2014/main" val="1396142776"/>
                    </a:ext>
                  </a:extLst>
                </a:gridCol>
              </a:tblGrid>
              <a:tr h="973667">
                <a:tc>
                  <a:txBody>
                    <a:bodyPr/>
                    <a:lstStyle/>
                    <a:p>
                      <a:r>
                        <a:rPr lang="en-US" sz="1200" dirty="0">
                          <a:solidFill>
                            <a:schemeClr val="tx1"/>
                          </a:solidFill>
                        </a:rPr>
                        <a:t>5</a:t>
                      </a:r>
                      <a:endParaRPr lang="en-IN" sz="1200" dirty="0">
                        <a:solidFill>
                          <a:schemeClr val="tx1"/>
                        </a:solidFill>
                      </a:endParaRPr>
                    </a:p>
                  </a:txBody>
                  <a:tcPr/>
                </a:tc>
                <a:tc>
                  <a:txBody>
                    <a:bodyPr/>
                    <a:lstStyle/>
                    <a:p>
                      <a:r>
                        <a:rPr lang="en-IN" sz="1200" b="0" kern="1200" dirty="0">
                          <a:solidFill>
                            <a:schemeClr val="tx1"/>
                          </a:solidFill>
                          <a:effectLst/>
                          <a:latin typeface="Times New Roman" panose="02020603050405020304" pitchFamily="18" charset="0"/>
                          <a:ea typeface="+mn-ea"/>
                          <a:cs typeface="Times New Roman" panose="02020603050405020304" pitchFamily="18" charset="0"/>
                        </a:rPr>
                        <a:t>Subhash Mondal, Amitava Nag, Anup Kumar Barman and Mithun Karmakar</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200" b="0" kern="1200" dirty="0">
                          <a:solidFill>
                            <a:schemeClr val="tx1"/>
                          </a:solidFill>
                          <a:effectLst/>
                          <a:latin typeface="Times New Roman" panose="02020603050405020304" pitchFamily="18" charset="0"/>
                          <a:ea typeface="+mn-ea"/>
                          <a:cs typeface="Times New Roman" panose="02020603050405020304" pitchFamily="18" charset="0"/>
                        </a:rPr>
                        <a:t>Machine learning-based maternal health risk prediction model for IoMT framework</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200" dirty="0"/>
                        <a:t>NN-based </a:t>
                      </a:r>
                      <a:r>
                        <a:rPr lang="en-IN" sz="1200" dirty="0" err="1"/>
                        <a:t>BiLSTM</a:t>
                      </a:r>
                      <a:r>
                        <a:rPr lang="en-IN" sz="1200" dirty="0"/>
                        <a:t>, Random Forest Classifier (RF), Exploratory Data Analysis (EDA)</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200" b="0" kern="1200" dirty="0">
                          <a:solidFill>
                            <a:schemeClr val="tx1"/>
                          </a:solidFill>
                          <a:effectLst/>
                          <a:latin typeface="Times New Roman" panose="02020603050405020304" pitchFamily="18" charset="0"/>
                          <a:ea typeface="+mn-ea"/>
                          <a:cs typeface="Times New Roman" panose="02020603050405020304" pitchFamily="18" charset="0"/>
                        </a:rPr>
                        <a:t>2023</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The fine-tuned Random Forest Classifier (RF) achieves the highest accuracy of 93.14%</a:t>
                      </a:r>
                      <a:endParaRPr lang="en-IN" sz="1200" dirty="0">
                        <a:solidFill>
                          <a:schemeClr val="tx1"/>
                        </a:solidFill>
                      </a:endParaRPr>
                    </a:p>
                  </a:txBody>
                  <a:tcPr/>
                </a:tc>
                <a:extLst>
                  <a:ext uri="{0D108BD9-81ED-4DB2-BD59-A6C34878D82A}">
                    <a16:rowId xmlns:a16="http://schemas.microsoft.com/office/drawing/2014/main" val="1741790721"/>
                  </a:ext>
                </a:extLst>
              </a:tr>
              <a:tr h="973667">
                <a:tc>
                  <a:txBody>
                    <a:bodyPr/>
                    <a:lstStyle/>
                    <a:p>
                      <a:r>
                        <a:rPr lang="en-US" sz="1200" dirty="0">
                          <a:solidFill>
                            <a:schemeClr val="tx1"/>
                          </a:solidFill>
                        </a:rPr>
                        <a:t>6</a:t>
                      </a:r>
                      <a:endParaRPr lang="en-IN" sz="1200" dirty="0">
                        <a:solidFill>
                          <a:schemeClr val="tx1"/>
                        </a:solidFill>
                      </a:endParaRPr>
                    </a:p>
                  </a:txBody>
                  <a:tcPr/>
                </a:tc>
                <a:tc>
                  <a:txBody>
                    <a:bodyPr/>
                    <a:lstStyle/>
                    <a:p>
                      <a:r>
                        <a:rPr lang="en-IN" sz="1200" b="0" kern="1200" dirty="0">
                          <a:solidFill>
                            <a:schemeClr val="tx1"/>
                          </a:solidFill>
                          <a:effectLst/>
                          <a:latin typeface="Times New Roman" panose="02020603050405020304" pitchFamily="18" charset="0"/>
                          <a:ea typeface="+mn-ea"/>
                          <a:cs typeface="Times New Roman" panose="02020603050405020304" pitchFamily="18" charset="0"/>
                        </a:rPr>
                        <a:t>Lawrence Merle Nelson Mary Elizabeth</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200" b="0" kern="1200" dirty="0">
                          <a:solidFill>
                            <a:schemeClr val="tx1"/>
                          </a:solidFill>
                          <a:effectLst/>
                          <a:latin typeface="Times New Roman" panose="02020603050405020304" pitchFamily="18" charset="0"/>
                          <a:ea typeface="+mn-ea"/>
                          <a:cs typeface="Times New Roman" panose="02020603050405020304" pitchFamily="18" charset="0"/>
                        </a:rPr>
                        <a:t>Machine learning applied in maternal and fetal health: a narrative review focused on pregnancy diseases and complications</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200" dirty="0"/>
                        <a:t>neural networks (NN), support vector machines (SVM), linear discriminant analysis (LDA).</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b="0" dirty="0">
                          <a:solidFill>
                            <a:schemeClr val="tx1"/>
                          </a:solidFill>
                          <a:latin typeface="Times New Roman" panose="02020603050405020304" pitchFamily="18" charset="0"/>
                          <a:cs typeface="Times New Roman" panose="02020603050405020304" pitchFamily="18" charset="0"/>
                        </a:rPr>
                        <a:t>2020</a:t>
                      </a:r>
                      <a:endParaRPr lang="en-IN" sz="12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To describe the state of art regarding the use of ML in the context of pregnancy diseases and complications.</a:t>
                      </a:r>
                      <a:endParaRPr lang="en-IN" sz="1200" dirty="0">
                        <a:solidFill>
                          <a:schemeClr val="tx1"/>
                        </a:solidFill>
                      </a:endParaRPr>
                    </a:p>
                  </a:txBody>
                  <a:tcPr/>
                </a:tc>
                <a:extLst>
                  <a:ext uri="{0D108BD9-81ED-4DB2-BD59-A6C34878D82A}">
                    <a16:rowId xmlns:a16="http://schemas.microsoft.com/office/drawing/2014/main" val="3768354116"/>
                  </a:ext>
                </a:extLst>
              </a:tr>
              <a:tr h="973667">
                <a:tc>
                  <a:txBody>
                    <a:bodyPr/>
                    <a:lstStyle/>
                    <a:p>
                      <a:r>
                        <a:rPr lang="en-US" sz="1200" dirty="0">
                          <a:solidFill>
                            <a:schemeClr val="tx1"/>
                          </a:solidFill>
                        </a:rPr>
                        <a:t>7</a:t>
                      </a:r>
                      <a:endParaRPr lang="en-IN" sz="1200" dirty="0">
                        <a:solidFill>
                          <a:schemeClr val="tx1"/>
                        </a:solidFill>
                      </a:endParaRPr>
                    </a:p>
                  </a:txBody>
                  <a:tcPr/>
                </a:tc>
                <a:tc>
                  <a:txBody>
                    <a:bodyPr/>
                    <a:lstStyle/>
                    <a:p>
                      <a:r>
                        <a:rPr lang="en-IN" sz="1200" dirty="0">
                          <a:latin typeface="Times New Roman" panose="02020603050405020304" pitchFamily="18" charset="0"/>
                          <a:cs typeface="Times New Roman" panose="02020603050405020304" pitchFamily="18" charset="0"/>
                        </a:rPr>
                        <a:t>Juan Li, Xin Li</a:t>
                      </a:r>
                      <a:endParaRPr lang="en-IN" sz="12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Health Risk Prediction Using Big Medical Data- a Collaborative Filtering-Enhanced Deep Learning Approach</a:t>
                      </a:r>
                      <a:endParaRPr lang="en-IN" sz="12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IN" sz="1200" dirty="0"/>
                        <a:t>probabilistic matrix factorization (PMF), collaborative topic regression (CTR), convolutional neural network (CNN)</a:t>
                      </a:r>
                      <a:endParaRPr lang="en-IN" sz="12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solidFill>
                            <a:schemeClr val="tx1"/>
                          </a:solidFill>
                          <a:latin typeface="Times New Roman" panose="02020603050405020304" pitchFamily="18" charset="0"/>
                          <a:cs typeface="Times New Roman" panose="02020603050405020304" pitchFamily="18" charset="0"/>
                        </a:rPr>
                        <a:t>2018</a:t>
                      </a:r>
                      <a:endParaRPr lang="en-IN" sz="12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200" dirty="0"/>
                        <a:t>This method can help us handle complex and multi-modality data. </a:t>
                      </a:r>
                      <a:endParaRPr lang="en-IN" sz="1200" dirty="0">
                        <a:solidFill>
                          <a:schemeClr val="tx1"/>
                        </a:solidFill>
                      </a:endParaRPr>
                    </a:p>
                  </a:txBody>
                  <a:tcPr/>
                </a:tc>
                <a:extLst>
                  <a:ext uri="{0D108BD9-81ED-4DB2-BD59-A6C34878D82A}">
                    <a16:rowId xmlns:a16="http://schemas.microsoft.com/office/drawing/2014/main" val="2846253705"/>
                  </a:ext>
                </a:extLst>
              </a:tr>
            </a:tbl>
          </a:graphicData>
        </a:graphic>
      </p:graphicFrame>
      <p:sp>
        <p:nvSpPr>
          <p:cNvPr id="2" name="TextBox 1">
            <a:extLst>
              <a:ext uri="{FF2B5EF4-FFF2-40B4-BE49-F238E27FC236}">
                <a16:creationId xmlns:a16="http://schemas.microsoft.com/office/drawing/2014/main" id="{83E61786-E69D-8AA2-BCD5-97DC1CF0122D}"/>
              </a:ext>
            </a:extLst>
          </p:cNvPr>
          <p:cNvSpPr txBox="1"/>
          <p:nvPr/>
        </p:nvSpPr>
        <p:spPr>
          <a:xfrm>
            <a:off x="381000" y="6477000"/>
            <a:ext cx="8534400" cy="253916"/>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r>
              <a:rPr lang="en-US" sz="1000" b="1" dirty="0">
                <a:latin typeface="Times New Roman" pitchFamily="18" charset="0"/>
                <a:cs typeface="Times New Roman" pitchFamily="18" charset="0"/>
              </a:rPr>
              <a:t>Dept of CSE, JCET, Hubballi		                                       2025-2026                                                                                                                  4    </a:t>
            </a:r>
          </a:p>
        </p:txBody>
      </p:sp>
    </p:spTree>
    <p:extLst>
      <p:ext uri="{BB962C8B-B14F-4D97-AF65-F5344CB8AC3E}">
        <p14:creationId xmlns:p14="http://schemas.microsoft.com/office/powerpoint/2010/main" val="764561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 y="210630"/>
            <a:ext cx="8229600" cy="1143000"/>
          </a:xfrm>
        </p:spPr>
        <p:txBody>
          <a:bodyPr>
            <a:normAutofit fontScale="90000"/>
          </a:bodyPr>
          <a:lstStyle/>
          <a:p>
            <a:pPr algn="l"/>
            <a:br>
              <a:rPr lang="en-US" b="1" dirty="0">
                <a:latin typeface="Times New Roman" pitchFamily="18" charset="0"/>
                <a:cs typeface="Times New Roman" pitchFamily="18" charset="0"/>
              </a:rPr>
            </a:br>
            <a:r>
              <a:rPr lang="en-US" b="1" dirty="0">
                <a:solidFill>
                  <a:schemeClr val="accent2">
                    <a:lumMod val="75000"/>
                  </a:schemeClr>
                </a:solidFill>
                <a:latin typeface="Times New Roman" pitchFamily="18" charset="0"/>
                <a:cs typeface="Times New Roman" pitchFamily="18" charset="0"/>
              </a:rPr>
              <a:t>MOTIVATION</a:t>
            </a:r>
            <a:br>
              <a:rPr lang="en-US"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76200" y="990600"/>
            <a:ext cx="6629400" cy="4525963"/>
          </a:xfrm>
        </p:spPr>
        <p:txBody>
          <a:bodyPr>
            <a:normAutofit/>
          </a:bodyPr>
          <a:lstStyle/>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a:p>
            <a:pPr algn="just">
              <a:lnSpc>
                <a:spcPct val="200000"/>
              </a:lnSpc>
            </a:pPr>
            <a:r>
              <a:rPr lang="en-US" sz="1800" dirty="0">
                <a:latin typeface="Times New Roman" panose="02020603050405020304" pitchFamily="18" charset="0"/>
                <a:cs typeface="Times New Roman" panose="02020603050405020304" pitchFamily="18" charset="0"/>
              </a:rPr>
              <a:t>The motivation behind predicting maternal health risks is to enhance pregnant women's health and well-being, reduce complications, and improve outcomes for both mother and babies.</a:t>
            </a:r>
          </a:p>
          <a:p>
            <a:pPr algn="just">
              <a:lnSpc>
                <a:spcPct val="200000"/>
              </a:lnSpc>
            </a:pPr>
            <a:r>
              <a:rPr lang="en-IN" sz="1800" dirty="0">
                <a:effectLst/>
                <a:latin typeface="Times New Roman" panose="02020603050405020304" pitchFamily="18" charset="0"/>
                <a:ea typeface="Calibri" panose="020F0502020204030204" pitchFamily="34" charset="0"/>
              </a:rPr>
              <a:t>Designed to serve both urban and rural healthcare environments, especially in low-resource settings.</a:t>
            </a:r>
            <a:endParaRPr lang="en-US" sz="1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5</a:t>
            </a:r>
          </a:p>
        </p:txBody>
      </p:sp>
      <p:pic>
        <p:nvPicPr>
          <p:cNvPr id="6" name="Picture 5">
            <a:extLst>
              <a:ext uri="{FF2B5EF4-FFF2-40B4-BE49-F238E27FC236}">
                <a16:creationId xmlns:a16="http://schemas.microsoft.com/office/drawing/2014/main" id="{E661EA19-84E6-D531-7C55-36D5AF4FC62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55937" y="-28575"/>
            <a:ext cx="2497588" cy="26298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1143000"/>
          </a:xfrm>
        </p:spPr>
        <p:txBody>
          <a:bodyPr>
            <a:normAutofit fontScale="90000"/>
          </a:bodyPr>
          <a:lstStyle/>
          <a:p>
            <a:pPr algn="l"/>
            <a:br>
              <a:rPr lang="en-US" b="1" dirty="0">
                <a:solidFill>
                  <a:schemeClr val="accent2">
                    <a:lumMod val="75000"/>
                  </a:schemeClr>
                </a:solidFill>
                <a:latin typeface="Times New Roman" pitchFamily="18" charset="0"/>
                <a:cs typeface="Times New Roman" pitchFamily="18" charset="0"/>
              </a:rPr>
            </a:br>
            <a:r>
              <a:rPr lang="en-US" b="1" dirty="0">
                <a:solidFill>
                  <a:schemeClr val="accent2">
                    <a:lumMod val="75000"/>
                  </a:schemeClr>
                </a:solidFill>
                <a:latin typeface="Times New Roman" pitchFamily="18" charset="0"/>
                <a:cs typeface="Times New Roman" pitchFamily="18" charset="0"/>
              </a:rPr>
              <a:t>OBJECTIVES </a:t>
            </a:r>
            <a:br>
              <a:rPr lang="en-US" b="1" dirty="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381000" y="1219200"/>
            <a:ext cx="8229600" cy="2743200"/>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 </a:t>
            </a:r>
          </a:p>
        </p:txBody>
      </p:sp>
      <p:sp>
        <p:nvSpPr>
          <p:cNvPr id="4" name="TextBox 3"/>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6</a:t>
            </a:r>
          </a:p>
        </p:txBody>
      </p:sp>
      <p:sp>
        <p:nvSpPr>
          <p:cNvPr id="5" name="TextBox 4">
            <a:extLst>
              <a:ext uri="{FF2B5EF4-FFF2-40B4-BE49-F238E27FC236}">
                <a16:creationId xmlns:a16="http://schemas.microsoft.com/office/drawing/2014/main" id="{24CCA18F-CEAD-CA2A-8B3D-5CD5A7160359}"/>
              </a:ext>
            </a:extLst>
          </p:cNvPr>
          <p:cNvSpPr txBox="1"/>
          <p:nvPr/>
        </p:nvSpPr>
        <p:spPr>
          <a:xfrm>
            <a:off x="533400" y="1066800"/>
            <a:ext cx="8229600" cy="4993931"/>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marL="342900" lvl="0" indent="-342900" algn="just">
              <a:lnSpc>
                <a:spcPct val="200000"/>
              </a:lnSpc>
              <a:buFont typeface="+mj-lt"/>
              <a:buAutoNum type="arabicPeriod"/>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To execute a model that customizes risk assessments to fit each individual’s maternal health profile.</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200000"/>
              </a:lnSpc>
              <a:buFont typeface="+mj-lt"/>
              <a:buAutoNum type="arabicPeriod"/>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Usage of supervised machine learning algorithms, the model can learn from fresh data</a:t>
            </a:r>
            <a:r>
              <a:rPr lang="en-IN" kern="100" dirty="0">
                <a:latin typeface="Times New Roman" panose="02020603050405020304" pitchFamily="18" charset="0"/>
                <a:ea typeface="Calibri" panose="020F0502020204030204" pitchFamily="34" charset="0"/>
                <a:cs typeface="Mangal" panose="02040503050203030202" pitchFamily="18" charset="0"/>
              </a:rPr>
              <a:t> </a:t>
            </a:r>
            <a:r>
              <a:rPr lang="en-IN" sz="1800" kern="100" dirty="0">
                <a:effectLst/>
                <a:latin typeface="Times New Roman" panose="02020603050405020304" pitchFamily="18" charset="0"/>
                <a:ea typeface="Calibri" panose="020F0502020204030204" pitchFamily="34" charset="0"/>
                <a:cs typeface="Mangal" panose="02040503050203030202" pitchFamily="18" charset="0"/>
              </a:rPr>
              <a:t>and identify intricate patterns.</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gn="just">
              <a:lnSpc>
                <a:spcPct val="200000"/>
              </a:lnSpc>
              <a:buFont typeface="+mj-lt"/>
              <a:buAutoNum type="arabicPeriod"/>
            </a:pPr>
            <a:r>
              <a:rPr lang="en-IN" sz="1800" kern="100" dirty="0">
                <a:effectLst/>
                <a:latin typeface="Times New Roman" panose="02020603050405020304" pitchFamily="18" charset="0"/>
                <a:ea typeface="Calibri" panose="020F0502020204030204" pitchFamily="34" charset="0"/>
                <a:cs typeface="Mangal" panose="02040503050203030202" pitchFamily="18" charset="0"/>
              </a:rPr>
              <a:t>To facilitate real-time input of data and provide timely health analysis</a:t>
            </a:r>
            <a:r>
              <a:rPr lang="en-IN" kern="100" dirty="0">
                <a:latin typeface="Times New Roman" panose="02020603050405020304" pitchFamily="18" charset="0"/>
                <a:ea typeface="Calibri" panose="020F0502020204030204" pitchFamily="34" charset="0"/>
                <a:cs typeface="Mangal" panose="02040503050203030202" pitchFamily="18" charset="0"/>
              </a:rPr>
              <a:t> </a:t>
            </a:r>
            <a:r>
              <a:rPr lang="en-IN" sz="1800" kern="100" dirty="0">
                <a:effectLst/>
                <a:latin typeface="Times New Roman" panose="02020603050405020304" pitchFamily="18" charset="0"/>
                <a:ea typeface="Calibri" panose="020F0502020204030204" pitchFamily="34" charset="0"/>
                <a:cs typeface="Mangal" panose="02040503050203030202" pitchFamily="18" charset="0"/>
              </a:rPr>
              <a:t>allowing for quicker interventions and minimizing complications due to delayed treatment.</a:t>
            </a:r>
            <a:r>
              <a:rPr lang="en-IN" sz="1800" kern="100" dirty="0">
                <a:effectLst/>
                <a:latin typeface="Calibri" panose="020F0502020204030204" pitchFamily="34" charset="0"/>
                <a:ea typeface="Calibri" panose="020F0502020204030204" pitchFamily="34" charset="0"/>
                <a:cs typeface="Mangal" panose="02040503050203030202" pitchFamily="18" charset="0"/>
              </a:rPr>
              <a:t> </a:t>
            </a:r>
          </a:p>
          <a:p>
            <a:pPr marL="342900" lvl="0" indent="-342900" algn="just">
              <a:lnSpc>
                <a:spcPct val="200000"/>
              </a:lnSpc>
              <a:spcAft>
                <a:spcPts val="800"/>
              </a:spcAft>
              <a:buFont typeface="+mj-lt"/>
              <a:buAutoNum type="arabicPeriod"/>
            </a:pPr>
            <a:r>
              <a:rPr lang="en-US" dirty="0">
                <a:latin typeface="Times New Roman" panose="02020603050405020304" pitchFamily="18" charset="0"/>
                <a:cs typeface="Times New Roman" panose="02020603050405020304" pitchFamily="18" charset="0"/>
              </a:rPr>
              <a:t>A responsive maternal health website must ensure mobile access, simple navigation, visual aids, multilingual support, fast loading and accessible UI for rural populations.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1143000"/>
          </a:xfrm>
        </p:spPr>
        <p:txBody>
          <a:bodyPr/>
          <a:lstStyle/>
          <a:p>
            <a:pPr algn="l"/>
            <a:r>
              <a:rPr lang="en-US" b="1" dirty="0">
                <a:solidFill>
                  <a:schemeClr val="accent2">
                    <a:lumMod val="75000"/>
                  </a:schemeClr>
                </a:solidFill>
                <a:latin typeface="Times New Roman" pitchFamily="18" charset="0"/>
                <a:cs typeface="Times New Roman" pitchFamily="18" charset="0"/>
              </a:rPr>
              <a:t>PROBLEM STATEMENT</a:t>
            </a:r>
          </a:p>
        </p:txBody>
      </p:sp>
      <p:pic>
        <p:nvPicPr>
          <p:cNvPr id="9" name="Picture 8">
            <a:extLst>
              <a:ext uri="{FF2B5EF4-FFF2-40B4-BE49-F238E27FC236}">
                <a16:creationId xmlns:a16="http://schemas.microsoft.com/office/drawing/2014/main" id="{F3688DDC-5CC2-3A15-A92B-D33739C5D89B}"/>
              </a:ext>
            </a:extLst>
          </p:cNvPr>
          <p:cNvPicPr>
            <a:picLocks noChangeAspect="1"/>
          </p:cNvPicPr>
          <p:nvPr/>
        </p:nvPicPr>
        <p:blipFill>
          <a:blip r:embed="rId2"/>
          <a:stretch>
            <a:fillRect/>
          </a:stretch>
        </p:blipFill>
        <p:spPr>
          <a:xfrm>
            <a:off x="4876800" y="3990975"/>
            <a:ext cx="4267200" cy="2867025"/>
          </a:xfrm>
          <a:prstGeom prst="rect">
            <a:avLst/>
          </a:prstGeom>
        </p:spPr>
      </p:pic>
      <p:sp>
        <p:nvSpPr>
          <p:cNvPr id="10" name="TextBox 9">
            <a:extLst>
              <a:ext uri="{FF2B5EF4-FFF2-40B4-BE49-F238E27FC236}">
                <a16:creationId xmlns:a16="http://schemas.microsoft.com/office/drawing/2014/main" id="{16A107EC-50E4-5AF7-639D-69EEC7224620}"/>
              </a:ext>
            </a:extLst>
          </p:cNvPr>
          <p:cNvSpPr txBox="1"/>
          <p:nvPr/>
        </p:nvSpPr>
        <p:spPr>
          <a:xfrm>
            <a:off x="304800" y="6477000"/>
            <a:ext cx="8839200" cy="523220"/>
          </a:xfrm>
          <a:prstGeom prst="rect">
            <a:avLst/>
          </a:prstGeom>
          <a:noFill/>
        </p:spPr>
        <p:txBody>
          <a:bodyPr wrap="square" rtlCol="0">
            <a:spAutoFit/>
          </a:bodyPr>
          <a:lstStyle/>
          <a:p>
            <a:r>
              <a:rPr lang="en-US" sz="1000" b="1" kern="1200" dirty="0">
                <a:solidFill>
                  <a:srgbClr val="000000"/>
                </a:solidFill>
                <a:effectLst/>
                <a:latin typeface="Times New Roman" panose="02020603050405020304" pitchFamily="18" charset="0"/>
                <a:ea typeface="+mn-ea"/>
                <a:cs typeface="Times New Roman" panose="02020603050405020304" pitchFamily="18" charset="0"/>
              </a:rPr>
              <a:t>Dept of CSE, JCET, Hubballi			                   2025-2026			                                 7</a:t>
            </a:r>
            <a:endParaRPr lang="en-IN" sz="1000" dirty="0">
              <a:effectLst/>
            </a:endParaRPr>
          </a:p>
          <a:p>
            <a:endParaRPr lang="en-IN"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E9DFABC-3CA6-0389-8F42-2FD1889E925B}"/>
                  </a:ext>
                </a:extLst>
              </p:cNvPr>
              <p:cNvSpPr txBox="1"/>
              <p:nvPr/>
            </p:nvSpPr>
            <p:spPr>
              <a:xfrm>
                <a:off x="457200" y="1524000"/>
                <a:ext cx="8305800" cy="923330"/>
              </a:xfrm>
              <a:prstGeom prst="rect">
                <a:avLst/>
              </a:prstGeom>
              <a:noFill/>
            </p:spPr>
            <p:txBody>
              <a:bodyPr wrap="square" rtlCol="0">
                <a:spAutoFit/>
              </a:bodyPr>
              <a:lstStyle/>
              <a:p>
                <a:pPr algn="ctr"/>
                <a:r>
                  <a:rPr lang="en-IN" sz="1800" b="1" kern="100" dirty="0">
                    <a:effectLst/>
                    <a:latin typeface="Times New Roman" panose="02020603050405020304" pitchFamily="18" charset="0"/>
                    <a:ea typeface="Calibri" panose="020F0502020204030204" pitchFamily="34" charset="0"/>
                    <a:cs typeface="Mangal" panose="02040503050203030202" pitchFamily="18" charset="0"/>
                  </a:rPr>
                  <a:t>“Visualizing Maternal health risk analysis using the physiological data (</a:t>
                </a:r>
                <a14:m>
                  <m:oMath xmlns:m="http://schemas.openxmlformats.org/officeDocument/2006/math">
                    <m:sSub>
                      <m:sSubPr>
                        <m:ctrlP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t>𝒇</m:t>
                        </m:r>
                      </m:e>
                      <m:sub>
                        <m: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t>𝒎</m:t>
                        </m:r>
                      </m:sub>
                    </m:sSub>
                    <m: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t>)</m:t>
                    </m:r>
                  </m:oMath>
                </a14:m>
                <a:r>
                  <a:rPr lang="en-IN" sz="1800" b="1" kern="100" dirty="0">
                    <a:effectLst/>
                    <a:latin typeface="Times New Roman" panose="02020603050405020304" pitchFamily="18" charset="0"/>
                    <a:ea typeface="Calibri" panose="020F0502020204030204" pitchFamily="34" charset="0"/>
                    <a:cs typeface="Mangal" panose="02040503050203030202" pitchFamily="18" charset="0"/>
                  </a:rPr>
                  <a:t> and </a:t>
                </a:r>
                <a:r>
                  <a:rPr lang="en-IN" b="1" kern="100" dirty="0" err="1">
                    <a:latin typeface="Times New Roman" panose="02020603050405020304" pitchFamily="18" charset="0"/>
                    <a:ea typeface="Calibri" panose="020F0502020204030204" pitchFamily="34" charset="0"/>
                    <a:cs typeface="Mangal" panose="02040503050203030202" pitchFamily="18" charset="0"/>
                  </a:rPr>
                  <a:t>XGBoost</a:t>
                </a:r>
                <a:r>
                  <a:rPr lang="en-IN" sz="1800" b="1" kern="100" dirty="0">
                    <a:effectLst/>
                    <a:latin typeface="Times New Roman" panose="02020603050405020304" pitchFamily="18" charset="0"/>
                    <a:ea typeface="Calibri" panose="020F0502020204030204" pitchFamily="34" charset="0"/>
                    <a:cs typeface="Mangal" panose="02040503050203030202" pitchFamily="18" charset="0"/>
                  </a:rPr>
                  <a:t> classification algorithm”</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mc:Choice>
        <mc:Fallback xmlns="">
          <p:sp>
            <p:nvSpPr>
              <p:cNvPr id="14" name="TextBox 13">
                <a:extLst>
                  <a:ext uri="{FF2B5EF4-FFF2-40B4-BE49-F238E27FC236}">
                    <a16:creationId xmlns:a16="http://schemas.microsoft.com/office/drawing/2014/main" id="{8E9DFABC-3CA6-0389-8F42-2FD1889E925B}"/>
                  </a:ext>
                </a:extLst>
              </p:cNvPr>
              <p:cNvSpPr txBox="1">
                <a:spLocks noRot="1" noChangeAspect="1" noMove="1" noResize="1" noEditPoints="1" noAdjustHandles="1" noChangeArrowheads="1" noChangeShapeType="1" noTextEdit="1"/>
              </p:cNvSpPr>
              <p:nvPr/>
            </p:nvSpPr>
            <p:spPr>
              <a:xfrm>
                <a:off x="457200" y="1524000"/>
                <a:ext cx="8305800" cy="923330"/>
              </a:xfrm>
              <a:prstGeom prst="rect">
                <a:avLst/>
              </a:prstGeom>
              <a:blipFill>
                <a:blip r:embed="rId3"/>
                <a:stretch>
                  <a:fillRect t="-33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8D10EEC-3D8E-4F94-1306-001D9DC02653}"/>
                  </a:ext>
                </a:extLst>
              </p:cNvPr>
              <p:cNvSpPr txBox="1"/>
              <p:nvPr/>
            </p:nvSpPr>
            <p:spPr>
              <a:xfrm>
                <a:off x="457200" y="2667000"/>
                <a:ext cx="5410200"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effectLst/>
                    <a:latin typeface="Times New Roman" panose="02020603050405020304" pitchFamily="18" charset="0"/>
                    <a:ea typeface="Calibri" panose="020F0502020204030204" pitchFamily="34" charset="0"/>
                  </a:rPr>
                  <a:t>The mapping function </a:t>
                </a:r>
                <a14:m>
                  <m:oMath xmlns:m="http://schemas.openxmlformats.org/officeDocument/2006/math">
                    <m:sSub>
                      <m:sSubPr>
                        <m:ctrlPr>
                          <a:rPr lang="en-IN" i="1">
                            <a:effectLst/>
                            <a:latin typeface="Cambria Math" panose="02040503050406030204" pitchFamily="18" charset="0"/>
                            <a:cs typeface="Times New Roman" panose="02020603050405020304" pitchFamily="18" charset="0"/>
                          </a:rPr>
                        </m:ctrlPr>
                      </m:sSubPr>
                      <m:e>
                        <m:r>
                          <a:rPr lang="en-IN" i="1">
                            <a:effectLst/>
                            <a:latin typeface="Cambria Math" panose="02040503050406030204" pitchFamily="18" charset="0"/>
                            <a:ea typeface="Calibri" panose="020F0502020204030204" pitchFamily="34" charset="0"/>
                            <a:cs typeface="Times New Roman" panose="02020603050405020304" pitchFamily="18" charset="0"/>
                          </a:rPr>
                          <m:t>𝑓</m:t>
                        </m:r>
                      </m:e>
                      <m:sub>
                        <m:r>
                          <a:rPr lang="en-IN" i="1">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n-IN" dirty="0">
                    <a:effectLst/>
                    <a:latin typeface="Times New Roman" panose="02020603050405020304" pitchFamily="18" charset="0"/>
                    <a:ea typeface="Times New Roman" panose="02020603050405020304" pitchFamily="18" charset="0"/>
                  </a:rPr>
                  <a:t> </a:t>
                </a:r>
                <a:r>
                  <a:rPr lang="en-IN" dirty="0">
                    <a:effectLst/>
                    <a:latin typeface="Times New Roman" panose="02020603050405020304" pitchFamily="18" charset="0"/>
                    <a:ea typeface="Calibri" panose="020F0502020204030204" pitchFamily="34" charset="0"/>
                  </a:rPr>
                  <a:t>is that of a trained </a:t>
                </a:r>
                <a:r>
                  <a:rPr lang="en-IN" dirty="0" err="1">
                    <a:latin typeface="Times New Roman" panose="02020603050405020304" pitchFamily="18" charset="0"/>
                    <a:ea typeface="Calibri" panose="020F0502020204030204" pitchFamily="34" charset="0"/>
                  </a:rPr>
                  <a:t>XGBoost</a:t>
                </a:r>
                <a:r>
                  <a:rPr lang="en-IN" dirty="0">
                    <a:effectLst/>
                    <a:latin typeface="Times New Roman" panose="02020603050405020304" pitchFamily="18" charset="0"/>
                    <a:ea typeface="Calibri" panose="020F0502020204030204" pitchFamily="34" charset="0"/>
                  </a:rPr>
                  <a:t> and Logistic Regression classifiers, which is </a:t>
                </a:r>
                <a:r>
                  <a:rPr lang="en-IN">
                    <a:effectLst/>
                    <a:latin typeface="Times New Roman" panose="02020603050405020304" pitchFamily="18" charset="0"/>
                    <a:ea typeface="Calibri" panose="020F0502020204030204" pitchFamily="34" charset="0"/>
                  </a:rPr>
                  <a:t>an machine </a:t>
                </a:r>
                <a:r>
                  <a:rPr lang="en-IN" dirty="0">
                    <a:effectLst/>
                    <a:latin typeface="Times New Roman" panose="02020603050405020304" pitchFamily="18" charset="0"/>
                    <a:ea typeface="Calibri" panose="020F0502020204030204" pitchFamily="34" charset="0"/>
                  </a:rPr>
                  <a:t>learning algorithm that trains several decision trees in training and outputs the class mode of the classes output by the individual trees. </a:t>
                </a:r>
                <a:endParaRPr lang="en-IN" dirty="0"/>
              </a:p>
            </p:txBody>
          </p:sp>
        </mc:Choice>
        <mc:Fallback xmlns="">
          <p:sp>
            <p:nvSpPr>
              <p:cNvPr id="15" name="TextBox 14">
                <a:extLst>
                  <a:ext uri="{FF2B5EF4-FFF2-40B4-BE49-F238E27FC236}">
                    <a16:creationId xmlns:a16="http://schemas.microsoft.com/office/drawing/2014/main" id="{98D10EEC-3D8E-4F94-1306-001D9DC02653}"/>
                  </a:ext>
                </a:extLst>
              </p:cNvPr>
              <p:cNvSpPr txBox="1">
                <a:spLocks noRot="1" noChangeAspect="1" noMove="1" noResize="1" noEditPoints="1" noAdjustHandles="1" noChangeArrowheads="1" noChangeShapeType="1" noTextEdit="1"/>
              </p:cNvSpPr>
              <p:nvPr/>
            </p:nvSpPr>
            <p:spPr>
              <a:xfrm>
                <a:off x="457200" y="2667000"/>
                <a:ext cx="5410200" cy="1477328"/>
              </a:xfrm>
              <a:prstGeom prst="rect">
                <a:avLst/>
              </a:prstGeom>
              <a:blipFill>
                <a:blip r:embed="rId4"/>
                <a:stretch>
                  <a:fillRect l="-676" t="-2479" r="-788" b="-4959"/>
                </a:stretch>
              </a:blipFill>
            </p:spPr>
            <p:txBody>
              <a:bodyPr/>
              <a:lstStyle/>
              <a:p>
                <a:r>
                  <a:rPr lang="en-IN">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b="1" dirty="0">
                <a:latin typeface="Times New Roman" pitchFamily="18" charset="0"/>
                <a:cs typeface="Times New Roman" pitchFamily="18" charset="0"/>
              </a:rPr>
            </a:br>
            <a:r>
              <a:rPr lang="en-US" b="1" dirty="0">
                <a:solidFill>
                  <a:schemeClr val="accent2">
                    <a:lumMod val="75000"/>
                  </a:schemeClr>
                </a:solidFill>
                <a:latin typeface="Times New Roman" pitchFamily="18" charset="0"/>
                <a:cs typeface="Times New Roman" pitchFamily="18" charset="0"/>
              </a:rPr>
              <a:t>REQUIREMENT ANALYSIS</a:t>
            </a:r>
            <a:br>
              <a:rPr lang="en-US" dirty="0">
                <a:latin typeface="Times New Roman" pitchFamily="18" charset="0"/>
                <a:cs typeface="Times New Roman" pitchFamily="18" charset="0"/>
              </a:rPr>
            </a:br>
            <a:endParaRPr lang="en-US" dirty="0"/>
          </a:p>
        </p:txBody>
      </p:sp>
      <p:sp>
        <p:nvSpPr>
          <p:cNvPr id="4" name="TextBox 3"/>
          <p:cNvSpPr txBox="1"/>
          <p:nvPr/>
        </p:nvSpPr>
        <p:spPr>
          <a:xfrm>
            <a:off x="228600" y="64008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8</a:t>
            </a:r>
          </a:p>
        </p:txBody>
      </p:sp>
      <p:sp>
        <p:nvSpPr>
          <p:cNvPr id="5" name="Rectangle 1">
            <a:extLst>
              <a:ext uri="{FF2B5EF4-FFF2-40B4-BE49-F238E27FC236}">
                <a16:creationId xmlns:a16="http://schemas.microsoft.com/office/drawing/2014/main" id="{2E7E5631-B352-142A-8312-6C0CC7E29B12}"/>
              </a:ext>
            </a:extLst>
          </p:cNvPr>
          <p:cNvSpPr>
            <a:spLocks noChangeArrowheads="1"/>
          </p:cNvSpPr>
          <p:nvPr/>
        </p:nvSpPr>
        <p:spPr bwMode="auto">
          <a:xfrm>
            <a:off x="533400" y="1295400"/>
            <a:ext cx="8229600" cy="5173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IN" sz="2400" b="1" dirty="0">
                <a:latin typeface="Times New Roman" panose="02020603050405020304" pitchFamily="18" charset="0"/>
                <a:cs typeface="Times New Roman" panose="02020603050405020304" pitchFamily="18" charset="0"/>
              </a:rPr>
              <a:t>Software Requirements: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Python.</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/Flask.</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HTML, CSS and JavaScript.</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Pickle.</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Pandas.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Plotly</a:t>
            </a:r>
            <a:r>
              <a:rPr lang="en-IN" dirty="0">
                <a:latin typeface="Times New Roman" panose="02020603050405020304" pitchFamily="18" charset="0"/>
                <a:cs typeface="Times New Roman" panose="02020603050405020304" pitchFamily="18" charset="0"/>
              </a:rPr>
              <a:t>/Matplotlib.</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Sklearn</a:t>
            </a:r>
            <a:r>
              <a:rPr lang="en-IN" dirty="0">
                <a:latin typeface="Times New Roman" panose="02020603050405020304" pitchFamily="18" charset="0"/>
                <a:cs typeface="Times New Roman" panose="02020603050405020304" pitchFamily="18" charset="0"/>
              </a:rPr>
              <a:t>.</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IDE </a:t>
            </a:r>
            <a:r>
              <a:rPr lang="en-IN" i="1" dirty="0">
                <a:latin typeface="Times New Roman" panose="02020603050405020304" pitchFamily="18" charset="0"/>
                <a:cs typeface="Times New Roman" panose="02020603050405020304" pitchFamily="18" charset="0"/>
              </a:rPr>
              <a:t>(VS Code and </a:t>
            </a:r>
            <a:r>
              <a:rPr lang="en-US" i="1" dirty="0">
                <a:latin typeface="Times New Roman" panose="02020603050405020304" pitchFamily="18" charset="0"/>
                <a:cs typeface="Times New Roman" panose="02020603050405020304" pitchFamily="18" charset="0"/>
              </a:rPr>
              <a:t>Jupiter notebook</a:t>
            </a:r>
            <a:r>
              <a:rPr lang="en-IN" i="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Browser </a:t>
            </a:r>
            <a:r>
              <a:rPr lang="en-IN" i="1" dirty="0">
                <a:latin typeface="Times New Roman" panose="02020603050405020304" pitchFamily="18" charset="0"/>
                <a:cs typeface="Times New Roman" panose="02020603050405020304" pitchFamily="18" charset="0"/>
              </a:rPr>
              <a:t>(Chrome).</a:t>
            </a:r>
            <a:endParaRPr lang="en-IN"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Operating System </a:t>
            </a:r>
            <a:r>
              <a:rPr lang="en-IN" i="1" dirty="0">
                <a:latin typeface="Times New Roman" panose="02020603050405020304" pitchFamily="18" charset="0"/>
                <a:cs typeface="Times New Roman" panose="02020603050405020304" pitchFamily="18" charset="0"/>
              </a:rPr>
              <a:t>(Windows).</a:t>
            </a:r>
          </a:p>
          <a:p>
            <a:pPr>
              <a:lnSpc>
                <a:spcPct val="150000"/>
              </a:lnSpc>
              <a:buFont typeface="Arial" panose="020B0604020202020204" pitchFamily="34" charset="0"/>
              <a:buChar char="•"/>
            </a:pPr>
            <a:endParaRPr lang="en-IN" dirty="0"/>
          </a:p>
        </p:txBody>
      </p:sp>
      <p:sp>
        <p:nvSpPr>
          <p:cNvPr id="3" name="TextBox 2">
            <a:extLst>
              <a:ext uri="{FF2B5EF4-FFF2-40B4-BE49-F238E27FC236}">
                <a16:creationId xmlns:a16="http://schemas.microsoft.com/office/drawing/2014/main" id="{AA0194DA-8B3C-2C27-859B-FAA3C412F96D}"/>
              </a:ext>
            </a:extLst>
          </p:cNvPr>
          <p:cNvSpPr txBox="1"/>
          <p:nvPr/>
        </p:nvSpPr>
        <p:spPr>
          <a:xfrm>
            <a:off x="4724400" y="1295400"/>
            <a:ext cx="3581400" cy="2585323"/>
          </a:xfrm>
          <a:prstGeom prst="rect">
            <a:avLst/>
          </a:prstGeom>
          <a:noFill/>
        </p:spPr>
        <p:txBody>
          <a:bodyPr wrap="square" rtlCol="0">
            <a:spAutoFit/>
          </a:bodyPr>
          <a:lstStyle/>
          <a:p>
            <a:pPr>
              <a:lnSpc>
                <a:spcPct val="150000"/>
              </a:lnSpc>
              <a:buNone/>
            </a:pPr>
            <a:r>
              <a:rPr lang="en-IN" sz="24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Processor: Minimum Dual-core CPU.</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RAM: 4 GB or higher.</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Storage: At least 1 GB free space.</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665"/>
            <a:ext cx="8229600" cy="1143000"/>
          </a:xfrm>
        </p:spPr>
        <p:txBody>
          <a:bodyPr>
            <a:normAutofit fontScale="90000"/>
          </a:bodyPr>
          <a:lstStyle/>
          <a:p>
            <a:pPr algn="l"/>
            <a:br>
              <a:rPr lang="en-US" b="1" dirty="0">
                <a:latin typeface="Times New Roman" pitchFamily="18" charset="0"/>
                <a:cs typeface="Times New Roman" pitchFamily="18" charset="0"/>
              </a:rPr>
            </a:br>
            <a:r>
              <a:rPr lang="en-US" b="1" dirty="0">
                <a:solidFill>
                  <a:schemeClr val="accent2">
                    <a:lumMod val="75000"/>
                  </a:schemeClr>
                </a:solidFill>
                <a:latin typeface="Times New Roman" pitchFamily="18" charset="0"/>
                <a:cs typeface="Times New Roman" pitchFamily="18" charset="0"/>
              </a:rPr>
              <a:t>METHODOLOGY</a:t>
            </a:r>
            <a:br>
              <a:rPr lang="en-US" dirty="0">
                <a:latin typeface="Times New Roman" pitchFamily="18" charset="0"/>
                <a:cs typeface="Times New Roman" pitchFamily="18" charset="0"/>
              </a:rPr>
            </a:br>
            <a:endParaRPr lang="en-US" dirty="0"/>
          </a:p>
        </p:txBody>
      </p:sp>
      <p:sp>
        <p:nvSpPr>
          <p:cNvPr id="4" name="TextBox 3"/>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9</a:t>
            </a:r>
          </a:p>
        </p:txBody>
      </p:sp>
      <mc:AlternateContent xmlns:mc="http://schemas.openxmlformats.org/markup-compatibility/2006" xmlns:a14="http://schemas.microsoft.com/office/drawing/2010/main">
        <mc:Choice Requires="a14">
          <p:sp>
            <p:nvSpPr>
              <p:cNvPr id="6" name="Rectangle 2">
                <a:extLst>
                  <a:ext uri="{FF2B5EF4-FFF2-40B4-BE49-F238E27FC236}">
                    <a16:creationId xmlns:a16="http://schemas.microsoft.com/office/drawing/2014/main" id="{6B780E04-489F-B2E0-9317-7096C6798D11}"/>
                  </a:ext>
                </a:extLst>
              </p:cNvPr>
              <p:cNvSpPr>
                <a:spLocks noChangeArrowheads="1"/>
              </p:cNvSpPr>
              <p:nvPr/>
            </p:nvSpPr>
            <p:spPr bwMode="auto">
              <a:xfrm>
                <a:off x="152400" y="1219200"/>
                <a:ext cx="8686800" cy="461151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Supervised Learning Overview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Supervised machine learning involves training models on labeled data, where input features are mapped to known outputs. This enables the model to learn patterns and predict outcomes like maternal risk levels (low, medium, high) using new, unseen physiological data.</a:t>
                </a:r>
              </a:p>
              <a:p>
                <a:pPr marR="0" lvl="0" algn="just"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and Predictive Equation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model predicts maternal risk using six key physiological parameters—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SystolicBP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DiastolicBP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BS,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BodyTemp</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HeartRate</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a </a:t>
                </a:r>
                <a:r>
                  <a:rPr lang="en-US" altLang="en-US" dirty="0" err="1">
                    <a:latin typeface="Times New Roman" panose="02020603050405020304" pitchFamily="18" charset="0"/>
                    <a:cs typeface="Times New Roman" panose="02020603050405020304" pitchFamily="18" charset="0"/>
                  </a:rPr>
                  <a:t>XGBoost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classifier or logistic regression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function represented as.</a:t>
                </a:r>
              </a:p>
              <a:p>
                <a:pPr marR="0" lvl="0" algn="just" defTabSz="914400" rtl="0" eaLnBrk="0" fontAlgn="base" latinLnBrk="0" hangingPunct="0">
                  <a:lnSpc>
                    <a:spcPct val="15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IN" sz="1800" b="1"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t>𝒚</m:t>
                            </m:r>
                          </m:e>
                        </m:acc>
                      </m:e>
                      <m:sub>
                        <m:r>
                          <a:rPr lang="en-IN" sz="1800" b="1" i="1" kern="100">
                            <a:effectLst/>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n-IN" sz="1800" b="1" kern="100" dirty="0">
                    <a:effectLst/>
                    <a:latin typeface="Times New Roman" panose="02020603050405020304" pitchFamily="18" charset="0"/>
                    <a:ea typeface="Times New Roman" panose="02020603050405020304" pitchFamily="18" charset="0"/>
                    <a:cs typeface="Times New Roman" panose="02020603050405020304" pitchFamily="18" charset="0"/>
                  </a:rPr>
                  <a:t> =  </a:t>
                </a:r>
                <a14:m>
                  <m:oMath xmlns:m="http://schemas.openxmlformats.org/officeDocument/2006/math">
                    <m:sSub>
                      <m:sSubPr>
                        <m:ctrlP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𝒇</m:t>
                        </m:r>
                      </m:e>
                      <m:sub>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𝒎</m:t>
                        </m:r>
                      </m:sub>
                    </m:sSub>
                    <m:d>
                      <m:dPr>
                        <m:ctrlP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𝑨𝒈𝒆</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𝑺𝒚𝒔𝒕𝒐𝒍𝒊𝒄𝑩𝑷</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𝑫𝒊𝒂𝒔𝒕𝒐𝒍𝒊𝒄𝑩𝑷</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𝑩𝑺</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𝑩𝒐𝒅𝒚𝑻𝒆𝒎𝒑</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IN" sz="1800" b="1" i="1" kern="100">
                            <a:effectLst/>
                            <a:latin typeface="Cambria Math" panose="02040503050406030204" pitchFamily="18" charset="0"/>
                            <a:ea typeface="Times New Roman" panose="02020603050405020304" pitchFamily="18" charset="0"/>
                            <a:cs typeface="Times New Roman" panose="02020603050405020304" pitchFamily="18" charset="0"/>
                          </a:rPr>
                          <m:t>𝑯𝒆𝒂𝒓𝒕𝑹𝒂𝒕𝒆</m:t>
                        </m:r>
                      </m:e>
                    </m:d>
                  </m:oMath>
                </a14:m>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6" name="Rectangle 2">
                <a:extLst>
                  <a:ext uri="{FF2B5EF4-FFF2-40B4-BE49-F238E27FC236}">
                    <a16:creationId xmlns:a16="http://schemas.microsoft.com/office/drawing/2014/main" id="{6B780E04-489F-B2E0-9317-7096C6798D11}"/>
                  </a:ext>
                </a:extLst>
              </p:cNvPr>
              <p:cNvSpPr>
                <a:spLocks noRot="1" noChangeAspect="1" noMove="1" noResize="1" noEditPoints="1" noAdjustHandles="1" noChangeArrowheads="1" noChangeShapeType="1" noTextEdit="1"/>
              </p:cNvSpPr>
              <p:nvPr/>
            </p:nvSpPr>
            <p:spPr bwMode="auto">
              <a:xfrm>
                <a:off x="152400" y="1219200"/>
                <a:ext cx="8686800" cy="4611519"/>
              </a:xfrm>
              <a:prstGeom prst="rect">
                <a:avLst/>
              </a:prstGeom>
              <a:blipFill>
                <a:blip r:embed="rId2"/>
                <a:stretch>
                  <a:fillRect l="-421" r="-5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BCD061-3B20-41C0-DC69-8040D240320E}"/>
              </a:ext>
            </a:extLst>
          </p:cNvPr>
          <p:cNvSpPr>
            <a:spLocks noGrp="1"/>
          </p:cNvSpPr>
          <p:nvPr>
            <p:ph idx="1"/>
          </p:nvPr>
        </p:nvSpPr>
        <p:spPr>
          <a:xfrm>
            <a:off x="381000" y="914400"/>
            <a:ext cx="8382000" cy="4525963"/>
          </a:xfrm>
        </p:spPr>
        <p:txBody>
          <a:bodyPr>
            <a:normAutofit/>
          </a:bodyPr>
          <a:lstStyle/>
          <a:p>
            <a:pPr marL="0" marR="0" indent="0" algn="just" rtl="0" eaLnBrk="0" fontAlgn="base" latinLnBrk="0" hangingPunct="0">
              <a:lnSpc>
                <a:spcPct val="150000"/>
              </a:lnSpc>
              <a:buClrTx/>
              <a:buSzPts val="1800"/>
              <a:buFont typeface="Arial" panose="020B0604020202020204" pitchFamily="34" charset="0"/>
              <a:buChar char="•"/>
            </a:pPr>
            <a:r>
              <a:rPr lang="en-US" sz="1800" b="1" i="0" kern="1200" baseline="0" dirty="0">
                <a:ln>
                  <a:noFill/>
                </a:ln>
                <a:solidFill>
                  <a:srgbClr val="000000"/>
                </a:solidFill>
                <a:effectLst/>
                <a:latin typeface="Times New Roman" panose="02020603050405020304" pitchFamily="18" charset="0"/>
                <a:cs typeface="Times New Roman" panose="02020603050405020304" pitchFamily="18" charset="0"/>
              </a:rPr>
              <a:t>Analysis &amp; Dominant Predictors</a:t>
            </a:r>
            <a:r>
              <a:rPr lang="en-US" sz="1800" b="0" i="0" kern="1200" baseline="0" dirty="0">
                <a:ln>
                  <a:noFill/>
                </a:ln>
                <a:solidFill>
                  <a:srgbClr val="000000"/>
                </a:solidFill>
                <a:effectLst/>
                <a:latin typeface="Times New Roman" panose="02020603050405020304" pitchFamily="18" charset="0"/>
                <a:cs typeface="Times New Roman" panose="02020603050405020304" pitchFamily="18" charset="0"/>
              </a:rPr>
              <a:t>: Statistical models (like logistic regression) and ensemble models (like </a:t>
            </a:r>
            <a:r>
              <a:rPr lang="en-US" sz="1800" b="0" i="0" kern="1200" baseline="0" dirty="0" err="1">
                <a:ln>
                  <a:noFill/>
                </a:ln>
                <a:solidFill>
                  <a:srgbClr val="000000"/>
                </a:solidFill>
                <a:effectLst/>
                <a:latin typeface="Times New Roman" panose="02020603050405020304" pitchFamily="18" charset="0"/>
                <a:cs typeface="Times New Roman" panose="02020603050405020304" pitchFamily="18" charset="0"/>
              </a:rPr>
              <a:t>XGBoost</a:t>
            </a:r>
            <a:r>
              <a:rPr lang="en-US" sz="1800" b="0" i="0" kern="1200" baseline="0" dirty="0">
                <a:ln>
                  <a:noFill/>
                </a:ln>
                <a:solidFill>
                  <a:srgbClr val="000000"/>
                </a:solidFill>
                <a:effectLst/>
                <a:latin typeface="Times New Roman" panose="02020603050405020304" pitchFamily="18" charset="0"/>
                <a:cs typeface="Times New Roman" panose="02020603050405020304" pitchFamily="18" charset="0"/>
              </a:rPr>
              <a:t>) analyze the importance of each feature. Blood sugar (BS) and blood pressure are the most influential predictors, heavily impacting risk classification, as validated by feature importance and model coefficients.</a:t>
            </a:r>
          </a:p>
          <a:p>
            <a:pPr marL="0" marR="0" indent="0" algn="just" rtl="0" eaLnBrk="0" fontAlgn="base" latinLnBrk="0" hangingPunct="0">
              <a:lnSpc>
                <a:spcPct val="150000"/>
              </a:lnSpc>
              <a:buClrTx/>
              <a:buSzPts val="1800"/>
              <a:buNone/>
            </a:pPr>
            <a:endParaRPr lang="en-US" sz="1800" b="0" i="0" kern="1200" baseline="0" dirty="0">
              <a:ln>
                <a:noFill/>
              </a:ln>
              <a:solidFill>
                <a:srgbClr val="000000"/>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50000"/>
              </a:lnSpc>
              <a:buSzPts val="1800"/>
            </a:pPr>
            <a:r>
              <a:rPr lang="en-IN" sz="1800" b="1" dirty="0">
                <a:latin typeface="Times New Roman" panose="02020603050405020304" pitchFamily="18" charset="0"/>
                <a:cs typeface="Times New Roman" panose="02020603050405020304" pitchFamily="18" charset="0"/>
              </a:rPr>
              <a:t>Data saving and visualizing</a:t>
            </a:r>
            <a:r>
              <a:rPr lang="en-IN" sz="1800" dirty="0"/>
              <a:t>: </a:t>
            </a:r>
            <a:r>
              <a:rPr lang="en-US" sz="1800" dirty="0">
                <a:latin typeface="Times New Roman" panose="02020603050405020304" pitchFamily="18" charset="0"/>
                <a:cs typeface="Times New Roman" panose="02020603050405020304" pitchFamily="18" charset="0"/>
              </a:rPr>
              <a:t>collecting health data, preprocessing it for consistency, and storing it securely in databases. Using machine learning models like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predictions are generated. Visualization tools then present time-series monthly data comparisons through interactive charts, enabling trend analysis and informed decision-making in maternal health management.</a:t>
            </a:r>
            <a:endParaRPr lang="en-IN" sz="1800" dirty="0">
              <a:latin typeface="Times New Roman" panose="02020603050405020304" pitchFamily="18" charset="0"/>
              <a:cs typeface="Times New Roman" panose="02020603050405020304" pitchFamily="18" charset="0"/>
            </a:endParaRPr>
          </a:p>
          <a:p>
            <a:pPr marL="0" marR="0" indent="0" algn="just" rtl="0" eaLnBrk="0" fontAlgn="base" latinLnBrk="0" hangingPunct="0">
              <a:lnSpc>
                <a:spcPct val="150000"/>
              </a:lnSpc>
              <a:buClrTx/>
              <a:buSzPts val="1800"/>
              <a:buFont typeface="Arial" panose="020B0604020202020204" pitchFamily="34" charset="0"/>
              <a:buChar char="•"/>
            </a:pPr>
            <a:endParaRPr lang="en-US" sz="1800" b="0" i="0" kern="1200" baseline="0" dirty="0">
              <a:ln>
                <a:noFill/>
              </a:ln>
              <a:solidFill>
                <a:srgbClr val="000000"/>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9F93ABF-A2B7-26CC-914C-AA17B1EA60A4}"/>
              </a:ext>
            </a:extLst>
          </p:cNvPr>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10</a:t>
            </a:r>
          </a:p>
        </p:txBody>
      </p:sp>
    </p:spTree>
    <p:extLst>
      <p:ext uri="{BB962C8B-B14F-4D97-AF65-F5344CB8AC3E}">
        <p14:creationId xmlns:p14="http://schemas.microsoft.com/office/powerpoint/2010/main" val="1965884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2551F-5380-9F2F-B409-61EA046706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21E6B9-EB81-4B13-37F6-8EB7E6D1A4D3}"/>
              </a:ext>
            </a:extLst>
          </p:cNvPr>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11</a:t>
            </a:r>
          </a:p>
        </p:txBody>
      </p:sp>
      <p:sp>
        <p:nvSpPr>
          <p:cNvPr id="6" name="TextBox 5">
            <a:extLst>
              <a:ext uri="{FF2B5EF4-FFF2-40B4-BE49-F238E27FC236}">
                <a16:creationId xmlns:a16="http://schemas.microsoft.com/office/drawing/2014/main" id="{D503D6B0-AFFC-3CD6-BC73-82E90CDE044C}"/>
              </a:ext>
            </a:extLst>
          </p:cNvPr>
          <p:cNvSpPr txBox="1"/>
          <p:nvPr/>
        </p:nvSpPr>
        <p:spPr>
          <a:xfrm>
            <a:off x="381000" y="685800"/>
            <a:ext cx="8305800" cy="2723823"/>
          </a:xfrm>
          <a:prstGeom prst="rect">
            <a:avLst/>
          </a:prstGeom>
          <a:noFill/>
        </p:spPr>
        <p:txBody>
          <a:bodyPr wrap="square" rtlCol="0">
            <a:spAutoFit/>
          </a:bodyPr>
          <a:lstStyle/>
          <a:p>
            <a:pPr marL="285750" indent="-285750" algn="just">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saving and visualizing</a:t>
            </a:r>
            <a:r>
              <a:rPr lang="en-IN" dirty="0"/>
              <a:t>: </a:t>
            </a:r>
            <a:r>
              <a:rPr lang="en-US" dirty="0">
                <a:latin typeface="Times New Roman" panose="02020603050405020304" pitchFamily="18" charset="0"/>
                <a:cs typeface="Times New Roman" panose="02020603050405020304" pitchFamily="18" charset="0"/>
              </a:rPr>
              <a:t>collecting health data, preprocessing it for consistency, and storing it securely in databases. Using machine learning models like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predictions are generated. Visualization tools then present time-series monthly data comparisons through interactive charts, enabling trend analysis and informed decision-making in maternal health management.</a:t>
            </a:r>
            <a:endParaRPr lang="en-IN" dirty="0">
              <a:latin typeface="Times New Roman" panose="02020603050405020304" pitchFamily="18" charset="0"/>
              <a:cs typeface="Times New Roman" panose="02020603050405020304" pitchFamily="18" charset="0"/>
            </a:endParaRPr>
          </a:p>
          <a:p>
            <a:pPr algn="just"/>
            <a:endParaRPr lang="en-IN" dirty="0"/>
          </a:p>
        </p:txBody>
      </p:sp>
      <p:pic>
        <p:nvPicPr>
          <p:cNvPr id="10" name="Picture 9">
            <a:extLst>
              <a:ext uri="{FF2B5EF4-FFF2-40B4-BE49-F238E27FC236}">
                <a16:creationId xmlns:a16="http://schemas.microsoft.com/office/drawing/2014/main" id="{078B286E-6AAA-40CF-74B1-7EE32AF4087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29200" y="2971800"/>
            <a:ext cx="3886200" cy="3124200"/>
          </a:xfrm>
          <a:prstGeom prst="rect">
            <a:avLst/>
          </a:prstGeom>
        </p:spPr>
      </p:pic>
    </p:spTree>
    <p:extLst>
      <p:ext uri="{BB962C8B-B14F-4D97-AF65-F5344CB8AC3E}">
        <p14:creationId xmlns:p14="http://schemas.microsoft.com/office/powerpoint/2010/main" val="185838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832A4-FD2A-5147-5E90-F192DAA6C9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ADC26-948D-4424-AD87-C7CB0E681568}"/>
              </a:ext>
            </a:extLst>
          </p:cNvPr>
          <p:cNvSpPr>
            <a:spLocks noGrp="1"/>
          </p:cNvSpPr>
          <p:nvPr>
            <p:ph type="title"/>
          </p:nvPr>
        </p:nvSpPr>
        <p:spPr>
          <a:xfrm>
            <a:off x="304800" y="152400"/>
            <a:ext cx="8229600" cy="1143000"/>
          </a:xfrm>
        </p:spPr>
        <p:txBody>
          <a:bodyPr>
            <a:normAutofit/>
          </a:bodyPr>
          <a:lstStyle/>
          <a:p>
            <a:pPr algn="l"/>
            <a:r>
              <a:rPr lang="en-US" sz="3600" b="1" dirty="0">
                <a:solidFill>
                  <a:schemeClr val="accent2"/>
                </a:solidFill>
                <a:latin typeface="Times New Roman" pitchFamily="18" charset="0"/>
                <a:cs typeface="Times New Roman" pitchFamily="18" charset="0"/>
              </a:rPr>
              <a:t>Block diagram</a:t>
            </a:r>
          </a:p>
        </p:txBody>
      </p:sp>
      <p:sp>
        <p:nvSpPr>
          <p:cNvPr id="4" name="TextBox 3">
            <a:extLst>
              <a:ext uri="{FF2B5EF4-FFF2-40B4-BE49-F238E27FC236}">
                <a16:creationId xmlns:a16="http://schemas.microsoft.com/office/drawing/2014/main" id="{AFFE500F-AB36-8EEF-43AF-98C01D9F7C50}"/>
              </a:ext>
            </a:extLst>
          </p:cNvPr>
          <p:cNvSpPr txBox="1"/>
          <p:nvPr/>
        </p:nvSpPr>
        <p:spPr>
          <a:xfrm>
            <a:off x="228600" y="64008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12</a:t>
            </a:r>
          </a:p>
        </p:txBody>
      </p:sp>
      <p:pic>
        <p:nvPicPr>
          <p:cNvPr id="24" name="Picture 23">
            <a:extLst>
              <a:ext uri="{FF2B5EF4-FFF2-40B4-BE49-F238E27FC236}">
                <a16:creationId xmlns:a16="http://schemas.microsoft.com/office/drawing/2014/main" id="{C56A80A5-7A7B-22A3-0C4A-22071FCF9E6E}"/>
              </a:ext>
            </a:extLst>
          </p:cNvPr>
          <p:cNvPicPr>
            <a:picLocks noChangeAspect="1"/>
          </p:cNvPicPr>
          <p:nvPr/>
        </p:nvPicPr>
        <p:blipFill>
          <a:blip r:embed="rId2"/>
          <a:stretch>
            <a:fillRect/>
          </a:stretch>
        </p:blipFill>
        <p:spPr>
          <a:xfrm>
            <a:off x="3352800" y="228600"/>
            <a:ext cx="4267200" cy="5562600"/>
          </a:xfrm>
          <a:prstGeom prst="rect">
            <a:avLst/>
          </a:prstGeom>
        </p:spPr>
      </p:pic>
      <p:sp>
        <p:nvSpPr>
          <p:cNvPr id="26" name="TextBox 25">
            <a:extLst>
              <a:ext uri="{FF2B5EF4-FFF2-40B4-BE49-F238E27FC236}">
                <a16:creationId xmlns:a16="http://schemas.microsoft.com/office/drawing/2014/main" id="{177C9451-87DF-BC62-2890-493436DE3ADD}"/>
              </a:ext>
            </a:extLst>
          </p:cNvPr>
          <p:cNvSpPr txBox="1"/>
          <p:nvPr/>
        </p:nvSpPr>
        <p:spPr>
          <a:xfrm>
            <a:off x="3505200" y="5715000"/>
            <a:ext cx="396240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TOTAL MODEL FLOW CHART</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400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DA44D-4AA8-DA2B-03E1-72BE302F7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D556E-8B8B-7136-E209-264FA690FB12}"/>
              </a:ext>
            </a:extLst>
          </p:cNvPr>
          <p:cNvSpPr>
            <a:spLocks noGrp="1"/>
          </p:cNvSpPr>
          <p:nvPr>
            <p:ph type="title"/>
          </p:nvPr>
        </p:nvSpPr>
        <p:spPr>
          <a:xfrm>
            <a:off x="304800" y="152400"/>
            <a:ext cx="8229600" cy="1143000"/>
          </a:xfrm>
        </p:spPr>
        <p:txBody>
          <a:bodyPr>
            <a:normAutofit/>
          </a:bodyPr>
          <a:lstStyle/>
          <a:p>
            <a:pPr algn="l"/>
            <a:r>
              <a:rPr lang="en-US" sz="3600" b="1" dirty="0">
                <a:solidFill>
                  <a:schemeClr val="accent2"/>
                </a:solidFill>
                <a:latin typeface="Times New Roman" pitchFamily="18" charset="0"/>
                <a:cs typeface="Times New Roman" pitchFamily="18" charset="0"/>
              </a:rPr>
              <a:t>Block diagram</a:t>
            </a:r>
          </a:p>
        </p:txBody>
      </p:sp>
      <p:sp>
        <p:nvSpPr>
          <p:cNvPr id="4" name="TextBox 3">
            <a:extLst>
              <a:ext uri="{FF2B5EF4-FFF2-40B4-BE49-F238E27FC236}">
                <a16:creationId xmlns:a16="http://schemas.microsoft.com/office/drawing/2014/main" id="{3CA895D6-DA58-F577-A13C-2CB3C63C2DDF}"/>
              </a:ext>
            </a:extLst>
          </p:cNvPr>
          <p:cNvSpPr txBox="1"/>
          <p:nvPr/>
        </p:nvSpPr>
        <p:spPr>
          <a:xfrm>
            <a:off x="228600" y="64008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13</a:t>
            </a:r>
          </a:p>
        </p:txBody>
      </p:sp>
      <p:pic>
        <p:nvPicPr>
          <p:cNvPr id="6" name="Picture 5">
            <a:extLst>
              <a:ext uri="{FF2B5EF4-FFF2-40B4-BE49-F238E27FC236}">
                <a16:creationId xmlns:a16="http://schemas.microsoft.com/office/drawing/2014/main" id="{39DF4C26-AAE1-EBC0-7DDF-1034C104A545}"/>
              </a:ext>
            </a:extLst>
          </p:cNvPr>
          <p:cNvPicPr>
            <a:picLocks noChangeAspect="1"/>
          </p:cNvPicPr>
          <p:nvPr/>
        </p:nvPicPr>
        <p:blipFill>
          <a:blip r:embed="rId2"/>
          <a:stretch>
            <a:fillRect/>
          </a:stretch>
        </p:blipFill>
        <p:spPr>
          <a:xfrm>
            <a:off x="3429000" y="73152"/>
            <a:ext cx="3810000" cy="5715000"/>
          </a:xfrm>
          <a:prstGeom prst="rect">
            <a:avLst/>
          </a:prstGeom>
        </p:spPr>
      </p:pic>
      <p:sp>
        <p:nvSpPr>
          <p:cNvPr id="7" name="TextBox 6">
            <a:extLst>
              <a:ext uri="{FF2B5EF4-FFF2-40B4-BE49-F238E27FC236}">
                <a16:creationId xmlns:a16="http://schemas.microsoft.com/office/drawing/2014/main" id="{3622DDA5-A9D0-BFE1-3613-4F94E77A4182}"/>
              </a:ext>
            </a:extLst>
          </p:cNvPr>
          <p:cNvSpPr txBox="1"/>
          <p:nvPr/>
        </p:nvSpPr>
        <p:spPr>
          <a:xfrm>
            <a:off x="2667000" y="5715000"/>
            <a:ext cx="5486400"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CONTINUATION OF THE PREDICT RISK MODEL</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3219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FC11D-9CF3-114B-AAEC-45990E8F9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5353A-74E7-5157-1FEA-2A2189CFCCDC}"/>
              </a:ext>
            </a:extLst>
          </p:cNvPr>
          <p:cNvSpPr>
            <a:spLocks noGrp="1"/>
          </p:cNvSpPr>
          <p:nvPr>
            <p:ph type="title"/>
          </p:nvPr>
        </p:nvSpPr>
        <p:spPr>
          <a:xfrm>
            <a:off x="304800" y="152400"/>
            <a:ext cx="8229600" cy="1143000"/>
          </a:xfrm>
        </p:spPr>
        <p:txBody>
          <a:bodyPr>
            <a:normAutofit/>
          </a:bodyPr>
          <a:lstStyle/>
          <a:p>
            <a:pPr algn="l"/>
            <a:r>
              <a:rPr lang="en-US" sz="3600" b="1" dirty="0">
                <a:solidFill>
                  <a:schemeClr val="accent2"/>
                </a:solidFill>
                <a:latin typeface="Times New Roman" pitchFamily="18" charset="0"/>
                <a:cs typeface="Times New Roman" pitchFamily="18" charset="0"/>
              </a:rPr>
              <a:t>Block diagram</a:t>
            </a:r>
          </a:p>
        </p:txBody>
      </p:sp>
      <p:sp>
        <p:nvSpPr>
          <p:cNvPr id="4" name="TextBox 3">
            <a:extLst>
              <a:ext uri="{FF2B5EF4-FFF2-40B4-BE49-F238E27FC236}">
                <a16:creationId xmlns:a16="http://schemas.microsoft.com/office/drawing/2014/main" id="{B7DA470D-8519-6163-C799-468D8A216376}"/>
              </a:ext>
            </a:extLst>
          </p:cNvPr>
          <p:cNvSpPr txBox="1"/>
          <p:nvPr/>
        </p:nvSpPr>
        <p:spPr>
          <a:xfrm>
            <a:off x="228600" y="64008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14</a:t>
            </a:r>
          </a:p>
        </p:txBody>
      </p:sp>
      <p:pic>
        <p:nvPicPr>
          <p:cNvPr id="5" name="Picture 4">
            <a:extLst>
              <a:ext uri="{FF2B5EF4-FFF2-40B4-BE49-F238E27FC236}">
                <a16:creationId xmlns:a16="http://schemas.microsoft.com/office/drawing/2014/main" id="{0D187B7F-A803-C42A-617E-8B745BDB3E85}"/>
              </a:ext>
            </a:extLst>
          </p:cNvPr>
          <p:cNvPicPr>
            <a:picLocks noChangeAspect="1"/>
          </p:cNvPicPr>
          <p:nvPr/>
        </p:nvPicPr>
        <p:blipFill>
          <a:blip r:embed="rId2"/>
          <a:stretch>
            <a:fillRect/>
          </a:stretch>
        </p:blipFill>
        <p:spPr>
          <a:xfrm>
            <a:off x="685800" y="1143000"/>
            <a:ext cx="7239000" cy="4114800"/>
          </a:xfrm>
          <a:prstGeom prst="rect">
            <a:avLst/>
          </a:prstGeom>
        </p:spPr>
      </p:pic>
      <p:sp>
        <p:nvSpPr>
          <p:cNvPr id="7" name="TextBox 6">
            <a:extLst>
              <a:ext uri="{FF2B5EF4-FFF2-40B4-BE49-F238E27FC236}">
                <a16:creationId xmlns:a16="http://schemas.microsoft.com/office/drawing/2014/main" id="{80DD5936-D95C-7D3D-F212-38D2D93EC769}"/>
              </a:ext>
            </a:extLst>
          </p:cNvPr>
          <p:cNvSpPr txBox="1"/>
          <p:nvPr/>
        </p:nvSpPr>
        <p:spPr>
          <a:xfrm>
            <a:off x="1905000" y="5105400"/>
            <a:ext cx="5486400"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CONTINUATION OF THE DATA SAVING AND THE MONTHLY DATA VISUALIZATION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914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A73155-B8E8-C95B-4F25-00F364005D5E}"/>
              </a:ext>
            </a:extLst>
          </p:cNvPr>
          <p:cNvSpPr txBox="1"/>
          <p:nvPr/>
        </p:nvSpPr>
        <p:spPr>
          <a:xfrm>
            <a:off x="152400" y="-76200"/>
            <a:ext cx="5486400" cy="646331"/>
          </a:xfrm>
          <a:prstGeom prst="rect">
            <a:avLst/>
          </a:prstGeom>
          <a:noFill/>
        </p:spPr>
        <p:txBody>
          <a:bodyPr wrap="square" rtlCol="0">
            <a:spAutoFit/>
          </a:bodyPr>
          <a:lstStyle/>
          <a:p>
            <a:r>
              <a:rPr lang="en-US" sz="3600" dirty="0">
                <a:ln>
                  <a:solidFill>
                    <a:schemeClr val="accent2"/>
                  </a:solidFill>
                </a:ln>
                <a:solidFill>
                  <a:schemeClr val="accent2"/>
                </a:solidFill>
                <a:latin typeface="Times New Roman" panose="02020603050405020304" pitchFamily="18" charset="0"/>
                <a:cs typeface="Times New Roman" panose="02020603050405020304" pitchFamily="18" charset="0"/>
              </a:rPr>
              <a:t>IMPLEMENTATIONS</a:t>
            </a:r>
            <a:r>
              <a:rPr lang="en-US" dirty="0"/>
              <a:t> </a:t>
            </a:r>
            <a:endParaRPr lang="en-IN" dirty="0"/>
          </a:p>
        </p:txBody>
      </p:sp>
      <p:sp>
        <p:nvSpPr>
          <p:cNvPr id="12" name="TextBox 11">
            <a:extLst>
              <a:ext uri="{FF2B5EF4-FFF2-40B4-BE49-F238E27FC236}">
                <a16:creationId xmlns:a16="http://schemas.microsoft.com/office/drawing/2014/main" id="{BE126D66-62B0-27B0-0F0F-02DD4EF4014D}"/>
              </a:ext>
            </a:extLst>
          </p:cNvPr>
          <p:cNvSpPr txBox="1"/>
          <p:nvPr/>
        </p:nvSpPr>
        <p:spPr>
          <a:xfrm>
            <a:off x="381000" y="5867400"/>
            <a:ext cx="3886200"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Landing page with precaution cards</a:t>
            </a:r>
            <a:endParaRPr lang="en-IN"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D50B3C1-2C93-F071-1305-2FFE09AED243}"/>
              </a:ext>
            </a:extLst>
          </p:cNvPr>
          <p:cNvSpPr txBox="1"/>
          <p:nvPr/>
        </p:nvSpPr>
        <p:spPr>
          <a:xfrm>
            <a:off x="4343400" y="5715000"/>
            <a:ext cx="4114800"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Pre-maternal precautions card render page</a:t>
            </a:r>
            <a:endParaRPr lang="en-IN"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DB8A930-CE57-611E-3A05-E2D1C3AE4D55}"/>
              </a:ext>
            </a:extLst>
          </p:cNvPr>
          <p:cNvSpPr txBox="1"/>
          <p:nvPr/>
        </p:nvSpPr>
        <p:spPr>
          <a:xfrm>
            <a:off x="228600" y="64770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15</a:t>
            </a:r>
          </a:p>
        </p:txBody>
      </p:sp>
      <p:pic>
        <p:nvPicPr>
          <p:cNvPr id="6" name="Picture 5">
            <a:extLst>
              <a:ext uri="{FF2B5EF4-FFF2-40B4-BE49-F238E27FC236}">
                <a16:creationId xmlns:a16="http://schemas.microsoft.com/office/drawing/2014/main" id="{E33B15F5-BCB5-10C3-93C4-C9418EA77A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 y="533400"/>
            <a:ext cx="3276600" cy="5410200"/>
          </a:xfrm>
          <a:prstGeom prst="rect">
            <a:avLst/>
          </a:prstGeom>
        </p:spPr>
      </p:pic>
      <p:pic>
        <p:nvPicPr>
          <p:cNvPr id="9" name="Picture 8">
            <a:extLst>
              <a:ext uri="{FF2B5EF4-FFF2-40B4-BE49-F238E27FC236}">
                <a16:creationId xmlns:a16="http://schemas.microsoft.com/office/drawing/2014/main" id="{C1B3D2EF-B3D9-A13C-2D3D-6AF6197716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533400"/>
            <a:ext cx="4401114" cy="5239512"/>
          </a:xfrm>
          <a:prstGeom prst="rect">
            <a:avLst/>
          </a:prstGeom>
        </p:spPr>
      </p:pic>
    </p:spTree>
    <p:extLst>
      <p:ext uri="{BB962C8B-B14F-4D97-AF65-F5344CB8AC3E}">
        <p14:creationId xmlns:p14="http://schemas.microsoft.com/office/powerpoint/2010/main" val="889410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9B7B5-ED7B-7A75-0A29-9A072B69E11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A2F3764-96D3-2F66-4535-3FE4ED72904F}"/>
              </a:ext>
            </a:extLst>
          </p:cNvPr>
          <p:cNvSpPr txBox="1"/>
          <p:nvPr/>
        </p:nvSpPr>
        <p:spPr>
          <a:xfrm>
            <a:off x="685800" y="5715000"/>
            <a:ext cx="3810000"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During-maternal precautions card render page</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27C1727-67F8-F9C5-6685-E9890D777A44}"/>
              </a:ext>
            </a:extLst>
          </p:cNvPr>
          <p:cNvSpPr txBox="1"/>
          <p:nvPr/>
        </p:nvSpPr>
        <p:spPr>
          <a:xfrm>
            <a:off x="5029200" y="5715000"/>
            <a:ext cx="3657600" cy="92333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Post-maternal precautions card render page</a:t>
            </a:r>
            <a:endParaRPr lang="en-IN" b="1" dirty="0">
              <a:latin typeface="Times New Roman" panose="02020603050405020304" pitchFamily="18" charset="0"/>
              <a:cs typeface="Times New Roman" panose="02020603050405020304" pitchFamily="18" charset="0"/>
            </a:endParaRPr>
          </a:p>
          <a:p>
            <a:endParaRPr lang="en-IN" dirty="0"/>
          </a:p>
        </p:txBody>
      </p:sp>
      <p:sp>
        <p:nvSpPr>
          <p:cNvPr id="2" name="TextBox 1">
            <a:extLst>
              <a:ext uri="{FF2B5EF4-FFF2-40B4-BE49-F238E27FC236}">
                <a16:creationId xmlns:a16="http://schemas.microsoft.com/office/drawing/2014/main" id="{708E6A0A-679E-BA52-BAD4-619BD2D2A904}"/>
              </a:ext>
            </a:extLst>
          </p:cNvPr>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16</a:t>
            </a:r>
          </a:p>
        </p:txBody>
      </p:sp>
      <p:pic>
        <p:nvPicPr>
          <p:cNvPr id="4" name="Picture 3">
            <a:extLst>
              <a:ext uri="{FF2B5EF4-FFF2-40B4-BE49-F238E27FC236}">
                <a16:creationId xmlns:a16="http://schemas.microsoft.com/office/drawing/2014/main" id="{9316A41F-9AAB-987F-6F47-ADB2C11589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28600"/>
            <a:ext cx="4133499" cy="5486400"/>
          </a:xfrm>
          <a:prstGeom prst="rect">
            <a:avLst/>
          </a:prstGeom>
        </p:spPr>
      </p:pic>
      <p:pic>
        <p:nvPicPr>
          <p:cNvPr id="6" name="Picture 5">
            <a:extLst>
              <a:ext uri="{FF2B5EF4-FFF2-40B4-BE49-F238E27FC236}">
                <a16:creationId xmlns:a16="http://schemas.microsoft.com/office/drawing/2014/main" id="{97D231DE-AA20-193D-9C13-D161DE4799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228600"/>
            <a:ext cx="4135706" cy="5410200"/>
          </a:xfrm>
          <a:prstGeom prst="rect">
            <a:avLst/>
          </a:prstGeom>
        </p:spPr>
      </p:pic>
    </p:spTree>
    <p:extLst>
      <p:ext uri="{BB962C8B-B14F-4D97-AF65-F5344CB8AC3E}">
        <p14:creationId xmlns:p14="http://schemas.microsoft.com/office/powerpoint/2010/main" val="2776240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247A0-1C7F-708E-884A-994D1BC3D77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0096F1D-802B-E487-DA6F-22840470F97F}"/>
              </a:ext>
            </a:extLst>
          </p:cNvPr>
          <p:cNvSpPr txBox="1"/>
          <p:nvPr/>
        </p:nvSpPr>
        <p:spPr>
          <a:xfrm>
            <a:off x="685800" y="5943600"/>
            <a:ext cx="33528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Data input and Prediction page</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C6C0B3B-292A-C0BE-C90D-FA08205CBBE3}"/>
              </a:ext>
            </a:extLst>
          </p:cNvPr>
          <p:cNvSpPr txBox="1"/>
          <p:nvPr/>
        </p:nvSpPr>
        <p:spPr>
          <a:xfrm>
            <a:off x="4572000" y="5943600"/>
            <a:ext cx="4114800"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Storage retrieval and visualization page</a:t>
            </a:r>
            <a:endParaRPr lang="en-IN"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D105D6E-7471-3BCF-2AED-26501925C619}"/>
              </a:ext>
            </a:extLst>
          </p:cNvPr>
          <p:cNvSpPr txBox="1"/>
          <p:nvPr/>
        </p:nvSpPr>
        <p:spPr>
          <a:xfrm>
            <a:off x="152400" y="64770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17</a:t>
            </a:r>
          </a:p>
        </p:txBody>
      </p:sp>
      <p:pic>
        <p:nvPicPr>
          <p:cNvPr id="6" name="Picture 5">
            <a:extLst>
              <a:ext uri="{FF2B5EF4-FFF2-40B4-BE49-F238E27FC236}">
                <a16:creationId xmlns:a16="http://schemas.microsoft.com/office/drawing/2014/main" id="{C235DB43-8E74-16EE-858F-D44A37842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99" y="152400"/>
            <a:ext cx="4267201" cy="5867400"/>
          </a:xfrm>
          <a:prstGeom prst="rect">
            <a:avLst/>
          </a:prstGeom>
        </p:spPr>
      </p:pic>
      <p:pic>
        <p:nvPicPr>
          <p:cNvPr id="8" name="Picture 7">
            <a:extLst>
              <a:ext uri="{FF2B5EF4-FFF2-40B4-BE49-F238E27FC236}">
                <a16:creationId xmlns:a16="http://schemas.microsoft.com/office/drawing/2014/main" id="{D186EC28-6AC6-DC8F-4F40-E051983A6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8200" y="152400"/>
            <a:ext cx="4119327" cy="5867400"/>
          </a:xfrm>
          <a:prstGeom prst="rect">
            <a:avLst/>
          </a:prstGeom>
        </p:spPr>
      </p:pic>
    </p:spTree>
    <p:extLst>
      <p:ext uri="{BB962C8B-B14F-4D97-AF65-F5344CB8AC3E}">
        <p14:creationId xmlns:p14="http://schemas.microsoft.com/office/powerpoint/2010/main" val="4232757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784BF-7B85-2E0E-9F27-6CCA55DE4B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6BC68B-C522-4A3F-83D2-C1ACCFA8B351}"/>
              </a:ext>
            </a:extLst>
          </p:cNvPr>
          <p:cNvSpPr txBox="1"/>
          <p:nvPr/>
        </p:nvSpPr>
        <p:spPr>
          <a:xfrm>
            <a:off x="152400" y="64770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18</a:t>
            </a:r>
          </a:p>
        </p:txBody>
      </p:sp>
      <p:sp>
        <p:nvSpPr>
          <p:cNvPr id="4" name="Rectangle 1">
            <a:extLst>
              <a:ext uri="{FF2B5EF4-FFF2-40B4-BE49-F238E27FC236}">
                <a16:creationId xmlns:a16="http://schemas.microsoft.com/office/drawing/2014/main" id="{9349887B-0E72-119F-C036-0D4997765326}"/>
              </a:ext>
            </a:extLst>
          </p:cNvPr>
          <p:cNvSpPr>
            <a:spLocks noChangeArrowheads="1"/>
          </p:cNvSpPr>
          <p:nvPr/>
        </p:nvSpPr>
        <p:spPr bwMode="auto">
          <a:xfrm>
            <a:off x="838200" y="1524000"/>
            <a:ext cx="79248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next phase, we will train and test the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 save it as a pickle file and integrate it with our frontend. Following this, the predicted values and recommendations will be stored.</a:t>
            </a:r>
          </a:p>
          <a:p>
            <a:pPr marR="0" lvl="0" algn="just" defTabSz="914400" rtl="0" eaLnBrk="0" fontAlgn="base" latinLnBrk="0" hangingPunct="0">
              <a:lnSpc>
                <a:spcPct val="2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final phase, we will focus on data visualization and project deployment.</a:t>
            </a:r>
          </a:p>
        </p:txBody>
      </p:sp>
      <p:sp>
        <p:nvSpPr>
          <p:cNvPr id="5" name="TextBox 4">
            <a:extLst>
              <a:ext uri="{FF2B5EF4-FFF2-40B4-BE49-F238E27FC236}">
                <a16:creationId xmlns:a16="http://schemas.microsoft.com/office/drawing/2014/main" id="{712718DF-3306-7E1F-7D2D-D384F3F64353}"/>
              </a:ext>
            </a:extLst>
          </p:cNvPr>
          <p:cNvSpPr txBox="1"/>
          <p:nvPr/>
        </p:nvSpPr>
        <p:spPr>
          <a:xfrm>
            <a:off x="609600" y="457200"/>
            <a:ext cx="3886200" cy="646331"/>
          </a:xfrm>
          <a:prstGeom prst="rect">
            <a:avLst/>
          </a:prstGeom>
          <a:solidFill>
            <a:schemeClr val="bg1"/>
          </a:solidFill>
        </p:spPr>
        <p:txBody>
          <a:bodyPr wrap="square" rtlCol="0">
            <a:spAutoFit/>
          </a:bodyPr>
          <a:lstStyle/>
          <a:p>
            <a:r>
              <a:rPr lang="en-US" sz="3600" dirty="0">
                <a:solidFill>
                  <a:srgbClr val="FF0000"/>
                </a:solidFill>
              </a:rPr>
              <a:t>NEXT PHASE PLANS</a:t>
            </a:r>
            <a:endParaRPr lang="en-IN" sz="3600" dirty="0">
              <a:solidFill>
                <a:srgbClr val="FF0000"/>
              </a:solidFill>
            </a:endParaRPr>
          </a:p>
        </p:txBody>
      </p:sp>
    </p:spTree>
    <p:extLst>
      <p:ext uri="{BB962C8B-B14F-4D97-AF65-F5344CB8AC3E}">
        <p14:creationId xmlns:p14="http://schemas.microsoft.com/office/powerpoint/2010/main" val="1834271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4C258-CB59-34DF-E189-9D92362F0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8372E-E2E3-D1EA-EFCA-4191AEDE25DA}"/>
              </a:ext>
            </a:extLst>
          </p:cNvPr>
          <p:cNvSpPr>
            <a:spLocks noGrp="1"/>
          </p:cNvSpPr>
          <p:nvPr>
            <p:ph type="title"/>
          </p:nvPr>
        </p:nvSpPr>
        <p:spPr/>
        <p:txBody>
          <a:bodyPr>
            <a:normAutofit/>
          </a:bodyPr>
          <a:lstStyle/>
          <a:p>
            <a:pPr algn="l"/>
            <a:r>
              <a:rPr lang="en-US" b="1" dirty="0">
                <a:solidFill>
                  <a:schemeClr val="accent2">
                    <a:lumMod val="75000"/>
                  </a:schemeClr>
                </a:solidFill>
                <a:latin typeface="Times New Roman" pitchFamily="18" charset="0"/>
                <a:cs typeface="Times New Roman" pitchFamily="18" charset="0"/>
              </a:rPr>
              <a:t>CONCLUSION</a:t>
            </a:r>
          </a:p>
        </p:txBody>
      </p:sp>
      <p:sp>
        <p:nvSpPr>
          <p:cNvPr id="4" name="TextBox 3">
            <a:extLst>
              <a:ext uri="{FF2B5EF4-FFF2-40B4-BE49-F238E27FC236}">
                <a16:creationId xmlns:a16="http://schemas.microsoft.com/office/drawing/2014/main" id="{EC8EC97F-5207-E350-6423-C3A9D9A2FBB0}"/>
              </a:ext>
            </a:extLst>
          </p:cNvPr>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19</a:t>
            </a:r>
          </a:p>
        </p:txBody>
      </p:sp>
      <p:sp>
        <p:nvSpPr>
          <p:cNvPr id="5" name="Rectangle 1">
            <a:extLst>
              <a:ext uri="{FF2B5EF4-FFF2-40B4-BE49-F238E27FC236}">
                <a16:creationId xmlns:a16="http://schemas.microsoft.com/office/drawing/2014/main" id="{6550F81F-E43D-F17E-61D9-60341DCB4F66}"/>
              </a:ext>
            </a:extLst>
          </p:cNvPr>
          <p:cNvSpPr>
            <a:spLocks noGrp="1" noChangeArrowheads="1"/>
          </p:cNvSpPr>
          <p:nvPr>
            <p:ph idx="1"/>
          </p:nvPr>
        </p:nvSpPr>
        <p:spPr bwMode="auto">
          <a:xfrm>
            <a:off x="457200" y="1406924"/>
            <a:ext cx="8458200" cy="4056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None/>
            </a:pPr>
            <a:r>
              <a:rPr lang="en-US" sz="1800" dirty="0">
                <a:latin typeface="Times New Roman" panose="02020603050405020304" pitchFamily="18" charset="0"/>
                <a:cs typeface="Times New Roman" panose="02020603050405020304" pitchFamily="18" charset="0"/>
              </a:rPr>
              <a:t>This project integrates predictive analytics and data visualization to enhance maternal health. It offers an interactive platform for pregnancy risk prediction, presents health information across pregnancy stages, and visualizes monthly health trends, empowering timely decision-making and proactive care for improved maternal and fetal </a:t>
            </a:r>
            <a:r>
              <a:rPr lang="en-US" sz="1800" dirty="0" err="1">
                <a:latin typeface="Times New Roman" panose="02020603050405020304" pitchFamily="18" charset="0"/>
                <a:cs typeface="Times New Roman" panose="02020603050405020304" pitchFamily="18" charset="0"/>
              </a:rPr>
              <a:t>outcomes.</a:t>
            </a:r>
            <a:r>
              <a:rPr lang="en-US" sz="2000" dirty="0" err="1"/>
              <a:t>An</a:t>
            </a:r>
            <a:r>
              <a:rPr lang="en-US" sz="2000" dirty="0"/>
              <a:t> </a:t>
            </a:r>
            <a:r>
              <a:rPr lang="en-US" sz="1800" dirty="0"/>
              <a:t>Interactive website that:</a:t>
            </a:r>
          </a:p>
          <a:p>
            <a:pPr>
              <a:lnSpc>
                <a:spcPct val="150000"/>
              </a:lnSpc>
              <a:buFont typeface="Arial" panose="020B0604020202020204" pitchFamily="34" charset="0"/>
              <a:buChar char="•"/>
            </a:pPr>
            <a:r>
              <a:rPr lang="en-US" sz="1800" dirty="0"/>
              <a:t>Takes user input (age, BP, temp, heart rate).</a:t>
            </a:r>
          </a:p>
          <a:p>
            <a:pPr>
              <a:lnSpc>
                <a:spcPct val="150000"/>
              </a:lnSpc>
              <a:buFont typeface="Arial" panose="020B0604020202020204" pitchFamily="34" charset="0"/>
              <a:buChar char="•"/>
            </a:pPr>
            <a:r>
              <a:rPr lang="en-US" sz="1800" dirty="0"/>
              <a:t>Sends it to the backend.</a:t>
            </a:r>
          </a:p>
          <a:p>
            <a:pPr>
              <a:lnSpc>
                <a:spcPct val="150000"/>
              </a:lnSpc>
              <a:buFont typeface="Arial" panose="020B0604020202020204" pitchFamily="34" charset="0"/>
              <a:buChar char="•"/>
            </a:pPr>
            <a:r>
              <a:rPr lang="en-US" sz="1800" dirty="0"/>
              <a:t>Returns and displays predicted maternal health risk.</a:t>
            </a:r>
          </a:p>
          <a:p>
            <a:pPr>
              <a:lnSpc>
                <a:spcPct val="150000"/>
              </a:lnSpc>
              <a:buFont typeface="Arial" panose="020B0604020202020204" pitchFamily="34" charset="0"/>
              <a:buChar char="•"/>
            </a:pPr>
            <a:r>
              <a:rPr lang="en-US" sz="1800" dirty="0"/>
              <a:t>Can view the previous report and recommendations</a:t>
            </a:r>
          </a:p>
        </p:txBody>
      </p:sp>
    </p:spTree>
    <p:extLst>
      <p:ext uri="{BB962C8B-B14F-4D97-AF65-F5344CB8AC3E}">
        <p14:creationId xmlns:p14="http://schemas.microsoft.com/office/powerpoint/2010/main" val="19525808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30BCA-88B2-E67A-2C42-DB7B67E68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C7360-82D3-4416-0EF9-21E72668AADD}"/>
              </a:ext>
            </a:extLst>
          </p:cNvPr>
          <p:cNvSpPr>
            <a:spLocks noGrp="1"/>
          </p:cNvSpPr>
          <p:nvPr>
            <p:ph type="title"/>
          </p:nvPr>
        </p:nvSpPr>
        <p:spPr>
          <a:xfrm>
            <a:off x="457200" y="152400"/>
            <a:ext cx="8229600" cy="1143000"/>
          </a:xfrm>
        </p:spPr>
        <p:txBody>
          <a:bodyPr>
            <a:normAutofit/>
          </a:bodyPr>
          <a:lstStyle/>
          <a:p>
            <a:pPr algn="l"/>
            <a:r>
              <a:rPr lang="en-US" b="1" dirty="0">
                <a:solidFill>
                  <a:schemeClr val="accent2">
                    <a:lumMod val="75000"/>
                  </a:schemeClr>
                </a:solidFill>
                <a:latin typeface="Times New Roman" pitchFamily="18" charset="0"/>
                <a:cs typeface="Times New Roman" pitchFamily="18" charset="0"/>
              </a:rPr>
              <a:t>FUTURE WORK</a:t>
            </a:r>
          </a:p>
        </p:txBody>
      </p:sp>
      <p:sp>
        <p:nvSpPr>
          <p:cNvPr id="4" name="TextBox 3">
            <a:extLst>
              <a:ext uri="{FF2B5EF4-FFF2-40B4-BE49-F238E27FC236}">
                <a16:creationId xmlns:a16="http://schemas.microsoft.com/office/drawing/2014/main" id="{115255A6-5DDD-B29A-0939-E2D97D270336}"/>
              </a:ext>
            </a:extLst>
          </p:cNvPr>
          <p:cNvSpPr txBox="1"/>
          <p:nvPr/>
        </p:nvSpPr>
        <p:spPr>
          <a:xfrm>
            <a:off x="228600" y="64008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20</a:t>
            </a:r>
          </a:p>
        </p:txBody>
      </p:sp>
      <p:sp>
        <p:nvSpPr>
          <p:cNvPr id="12" name="Rectangle 6">
            <a:extLst>
              <a:ext uri="{FF2B5EF4-FFF2-40B4-BE49-F238E27FC236}">
                <a16:creationId xmlns:a16="http://schemas.microsoft.com/office/drawing/2014/main" id="{2F8521AD-4FD2-3C14-2194-669E020E6616}"/>
              </a:ext>
            </a:extLst>
          </p:cNvPr>
          <p:cNvSpPr>
            <a:spLocks noGrp="1" noChangeArrowheads="1"/>
          </p:cNvSpPr>
          <p:nvPr>
            <p:ph idx="1"/>
          </p:nvPr>
        </p:nvSpPr>
        <p:spPr bwMode="auto">
          <a:xfrm>
            <a:off x="228600" y="1295400"/>
            <a:ext cx="8686800" cy="344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200000"/>
              </a:lnSpc>
            </a:pPr>
            <a:r>
              <a:rPr lang="en-US" sz="1800" dirty="0">
                <a:latin typeface="Times New Roman" panose="02020603050405020304" pitchFamily="18" charset="0"/>
                <a:cs typeface="Times New Roman" panose="02020603050405020304" pitchFamily="18" charset="0"/>
              </a:rPr>
              <a:t>Enhancing prediction accuracy using advanced AI models like deep learning or ensemble methods with larger diverse datasets.</a:t>
            </a:r>
          </a:p>
          <a:p>
            <a:pPr>
              <a:lnSpc>
                <a:spcPct val="200000"/>
              </a:lnSpc>
            </a:pPr>
            <a:r>
              <a:rPr lang="en-US" sz="1800" dirty="0">
                <a:latin typeface="Times New Roman" panose="02020603050405020304" pitchFamily="18" charset="0"/>
                <a:cs typeface="Times New Roman" panose="02020603050405020304" pitchFamily="18" charset="0"/>
              </a:rPr>
              <a:t>Expanding multilingual and voice-assisted interfaces to reach wider rural and low-literacy populations globally.</a:t>
            </a:r>
          </a:p>
          <a:p>
            <a:pPr>
              <a:lnSpc>
                <a:spcPct val="200000"/>
              </a:lnSpc>
            </a:pPr>
            <a:r>
              <a:rPr lang="en-US" sz="1800" dirty="0">
                <a:latin typeface="Times New Roman" panose="02020603050405020304" pitchFamily="18" charset="0"/>
                <a:cs typeface="Times New Roman" panose="02020603050405020304" pitchFamily="18" charset="0"/>
              </a:rPr>
              <a:t>Leveraging blockchain for secure, transparent patient data management and consent-driven information sharing.</a:t>
            </a:r>
          </a:p>
        </p:txBody>
      </p:sp>
    </p:spTree>
    <p:extLst>
      <p:ext uri="{BB962C8B-B14F-4D97-AF65-F5344CB8AC3E}">
        <p14:creationId xmlns:p14="http://schemas.microsoft.com/office/powerpoint/2010/main" val="487334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b="1" dirty="0">
                <a:latin typeface="Times New Roman" pitchFamily="18" charset="0"/>
                <a:cs typeface="Times New Roman" pitchFamily="18" charset="0"/>
              </a:rPr>
            </a:br>
            <a:r>
              <a:rPr lang="en-US" sz="4900" b="1" dirty="0">
                <a:solidFill>
                  <a:schemeClr val="accent2">
                    <a:lumMod val="75000"/>
                  </a:schemeClr>
                </a:solidFill>
                <a:latin typeface="Times New Roman" pitchFamily="18" charset="0"/>
                <a:cs typeface="Times New Roman" pitchFamily="18" charset="0"/>
              </a:rPr>
              <a:t>REFERENCES</a:t>
            </a:r>
            <a:br>
              <a:rPr lang="en-US" dirty="0">
                <a:solidFill>
                  <a:schemeClr val="accent2">
                    <a:lumMod val="75000"/>
                  </a:schemeClr>
                </a:solidFill>
                <a:latin typeface="Times New Roman" pitchFamily="18" charset="0"/>
                <a:cs typeface="Times New Roman" pitchFamily="18" charset="0"/>
              </a:rPr>
            </a:br>
            <a:endParaRPr lang="en-US" dirty="0">
              <a:solidFill>
                <a:schemeClr val="accent2">
                  <a:lumMod val="75000"/>
                </a:schemeClr>
              </a:solidFill>
            </a:endParaRPr>
          </a:p>
        </p:txBody>
      </p:sp>
      <p:sp>
        <p:nvSpPr>
          <p:cNvPr id="3" name="Content Placeholder 2"/>
          <p:cNvSpPr>
            <a:spLocks noGrp="1"/>
          </p:cNvSpPr>
          <p:nvPr>
            <p:ph idx="1"/>
          </p:nvPr>
        </p:nvSpPr>
        <p:spPr>
          <a:xfrm>
            <a:off x="381000" y="1371600"/>
            <a:ext cx="8458200" cy="4525963"/>
          </a:xfrm>
        </p:spPr>
        <p:txBody>
          <a:bodyPr>
            <a:normAutofit/>
          </a:bodyPr>
          <a:lstStyle/>
          <a:p>
            <a:pPr marL="0" indent="0" algn="just">
              <a:lnSpc>
                <a:spcPct val="150000"/>
              </a:lnSpc>
              <a:buNone/>
            </a:pPr>
            <a:r>
              <a:rPr lang="en-IN" sz="1800" b="1" dirty="0">
                <a:effectLst/>
                <a:latin typeface="Times New Roman" panose="02020603050405020304" pitchFamily="18" charset="0"/>
                <a:ea typeface="Calibri" panose="020F0502020204030204" pitchFamily="34" charset="0"/>
              </a:rPr>
              <a:t>[1] L. Adeola, C. </a:t>
            </a:r>
            <a:r>
              <a:rPr lang="en-IN" sz="1800" b="1" dirty="0" err="1">
                <a:effectLst/>
                <a:latin typeface="Times New Roman" panose="02020603050405020304" pitchFamily="18" charset="0"/>
                <a:ea typeface="Calibri" panose="020F0502020204030204" pitchFamily="34" charset="0"/>
              </a:rPr>
              <a:t>Iwendi</a:t>
            </a:r>
            <a:r>
              <a:rPr lang="en-IN" sz="1800" b="1" dirty="0">
                <a:effectLst/>
                <a:latin typeface="Times New Roman" panose="02020603050405020304" pitchFamily="18" charset="0"/>
                <a:ea typeface="Calibri" panose="020F0502020204030204" pitchFamily="34" charset="0"/>
              </a:rPr>
              <a:t> and K. </a:t>
            </a:r>
            <a:r>
              <a:rPr lang="en-IN" sz="1800" b="1" dirty="0" err="1">
                <a:effectLst/>
                <a:latin typeface="Times New Roman" panose="02020603050405020304" pitchFamily="18" charset="0"/>
                <a:ea typeface="Calibri" panose="020F0502020204030204" pitchFamily="34" charset="0"/>
              </a:rPr>
              <a:t>Akeren</a:t>
            </a:r>
            <a:r>
              <a:rPr lang="en-IN" sz="1800" b="1" dirty="0">
                <a:effectLst/>
                <a:latin typeface="Times New Roman" panose="02020603050405020304" pitchFamily="18" charset="0"/>
                <a:ea typeface="Calibri" panose="020F0502020204030204" pitchFamily="34" charset="0"/>
              </a:rPr>
              <a:t>, "Using Machine Learning to Predict and Monitor Maternal Health Risk: A Case Study of Materna – an End User Web Application"</a:t>
            </a:r>
            <a:r>
              <a:rPr lang="en-IN" sz="1800" dirty="0">
                <a:effectLst/>
                <a:latin typeface="Times New Roman" panose="02020603050405020304" pitchFamily="18" charset="0"/>
                <a:ea typeface="Calibri" panose="020F0502020204030204" pitchFamily="34" charset="0"/>
              </a:rPr>
              <a:t> Published on</a:t>
            </a:r>
            <a:r>
              <a:rPr lang="en-IN" sz="1800" b="1" dirty="0">
                <a:effectLst/>
                <a:latin typeface="Times New Roman" panose="02020603050405020304" pitchFamily="18" charset="0"/>
                <a:ea typeface="Calibri" panose="020F0502020204030204" pitchFamily="34" charset="0"/>
              </a:rPr>
              <a:t> </a:t>
            </a:r>
            <a:r>
              <a:rPr lang="en-IN" sz="1800" dirty="0">
                <a:effectLst/>
                <a:latin typeface="Times New Roman" panose="02020603050405020304" pitchFamily="18" charset="0"/>
                <a:ea typeface="Calibri" panose="020F0502020204030204" pitchFamily="34" charset="0"/>
              </a:rPr>
              <a:t>2025(IEEE) .</a:t>
            </a:r>
          </a:p>
          <a:p>
            <a:pPr marL="0" indent="0" algn="just">
              <a:lnSpc>
                <a:spcPct val="150000"/>
              </a:lnSpc>
              <a:buNone/>
            </a:pPr>
            <a:r>
              <a:rPr lang="en-IN" sz="1800" b="1" dirty="0">
                <a:effectLst/>
                <a:latin typeface="Times New Roman" panose="02020603050405020304" pitchFamily="18" charset="0"/>
                <a:ea typeface="Calibri" panose="020F0502020204030204" pitchFamily="34" charset="0"/>
              </a:rPr>
              <a:t>[2] H. A. Shifa, M. U. </a:t>
            </a:r>
            <a:r>
              <a:rPr lang="en-IN" sz="1800" b="1" dirty="0" err="1">
                <a:effectLst/>
                <a:latin typeface="Times New Roman" panose="02020603050405020304" pitchFamily="18" charset="0"/>
                <a:ea typeface="Calibri" panose="020F0502020204030204" pitchFamily="34" charset="0"/>
              </a:rPr>
              <a:t>Mojumdar</a:t>
            </a:r>
            <a:r>
              <a:rPr lang="en-IN" sz="1800" b="1" dirty="0">
                <a:effectLst/>
                <a:latin typeface="Times New Roman" panose="02020603050405020304" pitchFamily="18" charset="0"/>
                <a:ea typeface="Calibri" panose="020F0502020204030204" pitchFamily="34" charset="0"/>
              </a:rPr>
              <a:t>, M. M. Rahman, N. R. Chakraborty and V. Gupta, "Machine Learning Models for Maternal Health Risk Prediction based on Clinical Data" </a:t>
            </a:r>
            <a:r>
              <a:rPr lang="en-IN" sz="1800" dirty="0">
                <a:effectLst/>
                <a:latin typeface="Times New Roman" panose="02020603050405020304" pitchFamily="18" charset="0"/>
                <a:ea typeface="Calibri" panose="020F0502020204030204" pitchFamily="34" charset="0"/>
              </a:rPr>
              <a:t>Published on</a:t>
            </a:r>
            <a:r>
              <a:rPr lang="en-IN" sz="1800" b="1" dirty="0">
                <a:effectLst/>
                <a:latin typeface="Times New Roman" panose="02020603050405020304" pitchFamily="18" charset="0"/>
                <a:ea typeface="Calibri" panose="020F0502020204030204" pitchFamily="34" charset="0"/>
              </a:rPr>
              <a:t> </a:t>
            </a:r>
            <a:r>
              <a:rPr lang="en-IN" sz="1800" dirty="0">
                <a:effectLst/>
                <a:latin typeface="Times New Roman" panose="02020603050405020304" pitchFamily="18" charset="0"/>
                <a:ea typeface="Calibri" panose="020F0502020204030204" pitchFamily="34" charset="0"/>
              </a:rPr>
              <a:t>2024(IEEE) </a:t>
            </a:r>
            <a:r>
              <a:rPr lang="en-IN" sz="1800" dirty="0">
                <a:latin typeface="Times New Roman" panose="02020603050405020304" pitchFamily="18" charset="0"/>
                <a:ea typeface="Calibri" panose="020F0502020204030204" pitchFamily="34" charset="0"/>
              </a:rPr>
              <a:t>.</a:t>
            </a:r>
          </a:p>
          <a:p>
            <a:pPr marL="0" indent="0" algn="just">
              <a:lnSpc>
                <a:spcPct val="150000"/>
              </a:lnSpc>
              <a:buNone/>
            </a:pPr>
            <a:r>
              <a:rPr lang="en-IN" sz="1800" b="1" dirty="0">
                <a:effectLst/>
                <a:latin typeface="Times New Roman" panose="02020603050405020304" pitchFamily="18" charset="0"/>
                <a:ea typeface="Calibri" panose="020F0502020204030204" pitchFamily="34" charset="0"/>
              </a:rPr>
              <a:t>[3] M. Ahmed and M. A. Kashem, "IoT Based Risk Level Prediction Model For Maternal Health Care In The Context Of Bangladesh" </a:t>
            </a:r>
            <a:r>
              <a:rPr lang="en-IN" sz="1800" dirty="0">
                <a:effectLst/>
                <a:latin typeface="Times New Roman" panose="02020603050405020304" pitchFamily="18" charset="0"/>
                <a:ea typeface="Calibri" panose="020F0502020204030204" pitchFamily="34" charset="0"/>
              </a:rPr>
              <a:t>Published on</a:t>
            </a:r>
            <a:r>
              <a:rPr lang="en-IN" sz="1800" b="1" dirty="0">
                <a:effectLst/>
                <a:latin typeface="Times New Roman" panose="02020603050405020304" pitchFamily="18" charset="0"/>
                <a:ea typeface="Calibri" panose="020F0502020204030204" pitchFamily="34" charset="0"/>
              </a:rPr>
              <a:t> </a:t>
            </a:r>
            <a:r>
              <a:rPr lang="en-IN" sz="1800" dirty="0">
                <a:effectLst/>
                <a:latin typeface="Times New Roman" panose="02020603050405020304" pitchFamily="18" charset="0"/>
                <a:ea typeface="Calibri" panose="020F0502020204030204" pitchFamily="34" charset="0"/>
              </a:rPr>
              <a:t>2020(IEEE) .</a:t>
            </a:r>
          </a:p>
          <a:p>
            <a:pPr marL="0" indent="0" algn="just">
              <a:lnSpc>
                <a:spcPct val="150000"/>
              </a:lnSpc>
              <a:buNone/>
            </a:pPr>
            <a:r>
              <a:rPr lang="en-IN" sz="1800" b="1" dirty="0">
                <a:effectLst/>
                <a:latin typeface="Times New Roman" panose="02020603050405020304" pitchFamily="18" charset="0"/>
                <a:ea typeface="Calibri" panose="020F0502020204030204" pitchFamily="34" charset="0"/>
              </a:rPr>
              <a:t>[4] S. S. L. Pereira </a:t>
            </a:r>
            <a:r>
              <a:rPr lang="en-IN" sz="1800" b="1" i="1" dirty="0">
                <a:effectLst/>
                <a:latin typeface="Times New Roman" panose="02020603050405020304" pitchFamily="18" charset="0"/>
                <a:ea typeface="Calibri" panose="020F0502020204030204" pitchFamily="34" charset="0"/>
              </a:rPr>
              <a:t>et al</a:t>
            </a:r>
            <a:r>
              <a:rPr lang="en-IN" sz="1800" b="1" dirty="0">
                <a:effectLst/>
                <a:latin typeface="Times New Roman" panose="02020603050405020304" pitchFamily="18" charset="0"/>
                <a:ea typeface="Calibri" panose="020F0502020204030204" pitchFamily="34" charset="0"/>
              </a:rPr>
              <a:t>., "Improving Maternal Risk Analysis in Public Health Systems" </a:t>
            </a:r>
            <a:r>
              <a:rPr lang="en-IN" sz="1800" dirty="0">
                <a:effectLst/>
                <a:latin typeface="Times New Roman" panose="02020603050405020304" pitchFamily="18" charset="0"/>
                <a:ea typeface="Calibri" panose="020F0502020204030204" pitchFamily="34" charset="0"/>
              </a:rPr>
              <a:t>Published on</a:t>
            </a:r>
            <a:r>
              <a:rPr lang="en-IN" sz="1800" b="1" dirty="0">
                <a:effectLst/>
                <a:latin typeface="Times New Roman" panose="02020603050405020304" pitchFamily="18" charset="0"/>
                <a:ea typeface="Calibri" panose="020F0502020204030204" pitchFamily="34" charset="0"/>
              </a:rPr>
              <a:t> </a:t>
            </a:r>
            <a:r>
              <a:rPr lang="en-IN" sz="1800" i="1" dirty="0">
                <a:effectLst/>
                <a:latin typeface="Times New Roman" panose="02020603050405020304" pitchFamily="18" charset="0"/>
                <a:ea typeface="Calibri" panose="020F0502020204030204" pitchFamily="34" charset="0"/>
              </a:rPr>
              <a:t>2020</a:t>
            </a:r>
            <a:r>
              <a:rPr lang="en-IN" sz="1800" dirty="0">
                <a:effectLst/>
                <a:latin typeface="Times New Roman" panose="02020603050405020304" pitchFamily="18" charset="0"/>
                <a:ea typeface="Calibri" panose="020F0502020204030204" pitchFamily="34" charset="0"/>
              </a:rPr>
              <a:t>(IEEE) </a:t>
            </a:r>
            <a:r>
              <a:rPr lang="en-IN" sz="1800" dirty="0">
                <a:latin typeface="Times New Roman" panose="02020603050405020304" pitchFamily="18" charset="0"/>
                <a:ea typeface="Calibri" panose="020F0502020204030204" pitchFamily="34" charset="0"/>
              </a:rPr>
              <a:t>.</a:t>
            </a:r>
            <a:endParaRPr lang="en-US" dirty="0"/>
          </a:p>
        </p:txBody>
      </p:sp>
      <p:sp>
        <p:nvSpPr>
          <p:cNvPr id="6" name="TextBox 5"/>
          <p:cNvSpPr txBox="1"/>
          <p:nvPr/>
        </p:nvSpPr>
        <p:spPr>
          <a:xfrm>
            <a:off x="152400" y="6324600"/>
            <a:ext cx="8763000" cy="246221"/>
          </a:xfrm>
          <a:prstGeom prst="rect">
            <a:avLst/>
          </a:prstGeom>
          <a:noFill/>
        </p:spPr>
        <p:txBody>
          <a:bodyPr wrap="square" rtlCol="0">
            <a:spAutoFit/>
          </a:bodyPr>
          <a:lstStyle/>
          <a:p>
            <a:r>
              <a:rPr lang="en-US" sz="1000" b="1" dirty="0">
                <a:latin typeface="Times New Roman" pitchFamily="18" charset="0"/>
                <a:cs typeface="Times New Roman" pitchFamily="18" charset="0"/>
              </a:rPr>
              <a:t>Dept of CSE, JCET, Hubballi			              2025-2026			                                   21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281C7-A5F6-C831-A3A6-907D50981F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976C1A-0FDE-C17D-C745-54A56C973D75}"/>
              </a:ext>
            </a:extLst>
          </p:cNvPr>
          <p:cNvSpPr>
            <a:spLocks noGrp="1"/>
          </p:cNvSpPr>
          <p:nvPr>
            <p:ph idx="1"/>
          </p:nvPr>
        </p:nvSpPr>
        <p:spPr/>
        <p:txBody>
          <a:bodyPr/>
          <a:lstStyle/>
          <a:p>
            <a:endParaRPr lang="en-US" dirty="0"/>
          </a:p>
          <a:p>
            <a:pPr algn="ctr">
              <a:buNone/>
            </a:pPr>
            <a:endParaRPr lang="en-US" sz="4800" dirty="0">
              <a:latin typeface="Times New Roman" pitchFamily="18" charset="0"/>
              <a:cs typeface="Times New Roman" pitchFamily="18" charset="0"/>
            </a:endParaRPr>
          </a:p>
          <a:p>
            <a:pPr algn="ctr">
              <a:buNone/>
            </a:pPr>
            <a:r>
              <a:rPr lang="en-US" sz="4800" dirty="0">
                <a:solidFill>
                  <a:schemeClr val="accent2">
                    <a:lumMod val="75000"/>
                  </a:schemeClr>
                </a:solidFill>
                <a:latin typeface="Times New Roman" pitchFamily="18" charset="0"/>
                <a:cs typeface="Times New Roman" pitchFamily="18" charset="0"/>
              </a:rPr>
              <a:t>Q and A</a:t>
            </a:r>
          </a:p>
        </p:txBody>
      </p:sp>
    </p:spTree>
    <p:extLst>
      <p:ext uri="{BB962C8B-B14F-4D97-AF65-F5344CB8AC3E}">
        <p14:creationId xmlns:p14="http://schemas.microsoft.com/office/powerpoint/2010/main" val="2957628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306FE-0237-3325-F86C-BEC3077A37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9BBABA-9EC5-E990-8017-91FDC692B5AC}"/>
              </a:ext>
            </a:extLst>
          </p:cNvPr>
          <p:cNvSpPr>
            <a:spLocks noGrp="1"/>
          </p:cNvSpPr>
          <p:nvPr>
            <p:ph idx="1"/>
          </p:nvPr>
        </p:nvSpPr>
        <p:spPr/>
        <p:txBody>
          <a:bodyPr/>
          <a:lstStyle/>
          <a:p>
            <a:endParaRPr lang="en-US" dirty="0"/>
          </a:p>
          <a:p>
            <a:pPr algn="ctr">
              <a:buNone/>
            </a:pPr>
            <a:endParaRPr lang="en-US" sz="4800" dirty="0">
              <a:latin typeface="Times New Roman" pitchFamily="18" charset="0"/>
              <a:cs typeface="Times New Roman" pitchFamily="18" charset="0"/>
            </a:endParaRPr>
          </a:p>
          <a:p>
            <a:pPr algn="ctr">
              <a:buNone/>
            </a:pPr>
            <a:r>
              <a:rPr lang="en-US" sz="4800" dirty="0">
                <a:solidFill>
                  <a:schemeClr val="accent2">
                    <a:lumMod val="75000"/>
                  </a:schemeClr>
                </a:solidFill>
                <a:latin typeface="Times New Roman" pitchFamily="18" charset="0"/>
                <a:cs typeface="Times New Roman" pitchFamily="18" charset="0"/>
              </a:rPr>
              <a:t>SUGGESTIONS</a:t>
            </a:r>
          </a:p>
        </p:txBody>
      </p:sp>
    </p:spTree>
    <p:extLst>
      <p:ext uri="{BB962C8B-B14F-4D97-AF65-F5344CB8AC3E}">
        <p14:creationId xmlns:p14="http://schemas.microsoft.com/office/powerpoint/2010/main" val="3774438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BF177-AAA5-4122-EC3B-5C3825F29C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80D0C0-4442-7034-E147-8FE9723F6636}"/>
              </a:ext>
            </a:extLst>
          </p:cNvPr>
          <p:cNvSpPr>
            <a:spLocks noGrp="1"/>
          </p:cNvSpPr>
          <p:nvPr>
            <p:ph idx="1"/>
          </p:nvPr>
        </p:nvSpPr>
        <p:spPr/>
        <p:txBody>
          <a:bodyPr/>
          <a:lstStyle/>
          <a:p>
            <a:endParaRPr lang="en-US" dirty="0"/>
          </a:p>
          <a:p>
            <a:pPr algn="ctr">
              <a:buNone/>
            </a:pPr>
            <a:endParaRPr lang="en-US" sz="4800" dirty="0">
              <a:latin typeface="Times New Roman" pitchFamily="18" charset="0"/>
              <a:cs typeface="Times New Roman" pitchFamily="18" charset="0"/>
            </a:endParaRPr>
          </a:p>
          <a:p>
            <a:pPr algn="ctr">
              <a:buNone/>
            </a:pPr>
            <a:r>
              <a:rPr lang="en-US" sz="4800" dirty="0">
                <a:solidFill>
                  <a:schemeClr val="accent2">
                    <a:lumMod val="75000"/>
                  </a:schemeClr>
                </a:solidFill>
                <a:latin typeface="Times New Roman" pitchFamily="18" charset="0"/>
                <a:cs typeface="Times New Roman" pitchFamily="18" charset="0"/>
              </a:rPr>
              <a:t>THANK YOU</a:t>
            </a:r>
          </a:p>
        </p:txBody>
      </p:sp>
    </p:spTree>
    <p:extLst>
      <p:ext uri="{BB962C8B-B14F-4D97-AF65-F5344CB8AC3E}">
        <p14:creationId xmlns:p14="http://schemas.microsoft.com/office/powerpoint/2010/main" val="3053051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1241</TotalTime>
  <Words>1888</Words>
  <Application>Microsoft Office PowerPoint</Application>
  <PresentationFormat>On-screen Show (4:3)</PresentationFormat>
  <Paragraphs>219</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 Math</vt:lpstr>
      <vt:lpstr>Times New Roman</vt:lpstr>
      <vt:lpstr>Office Theme</vt:lpstr>
      <vt:lpstr>PowerPoint Presentation</vt:lpstr>
      <vt:lpstr>CONTENTS</vt:lpstr>
      <vt:lpstr> INTRODUCTION </vt:lpstr>
      <vt:lpstr>LITERATURE SURVEY</vt:lpstr>
      <vt:lpstr>PowerPoint Presentation</vt:lpstr>
      <vt:lpstr> MOTIVATION </vt:lpstr>
      <vt:lpstr> OBJECTIVES  </vt:lpstr>
      <vt:lpstr>PROBLEM STATEMENT</vt:lpstr>
      <vt:lpstr> REQUIREMENT ANALYSIS </vt:lpstr>
      <vt:lpstr> METHODOLOGY </vt:lpstr>
      <vt:lpstr>PowerPoint Presentation</vt:lpstr>
      <vt:lpstr>PowerPoint Presentation</vt:lpstr>
      <vt:lpstr>Block diagram</vt:lpstr>
      <vt:lpstr>Block diagram</vt:lpstr>
      <vt:lpstr>Block diagram</vt:lpstr>
      <vt:lpstr>PowerPoint Presentation</vt:lpstr>
      <vt:lpstr>PowerPoint Presentation</vt:lpstr>
      <vt:lpstr>PowerPoint Presentation</vt:lpstr>
      <vt:lpstr>PowerPoint Presentation</vt:lpstr>
      <vt:lpstr>CONCLUSION</vt:lpstr>
      <vt:lpstr>FUTURE WORK</vt:lpstr>
      <vt:lpstr> REFERENCES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student</dc:creator>
  <cp:lastModifiedBy>Vishwanath Mallikarjun Karadigudd</cp:lastModifiedBy>
  <cp:revision>153</cp:revision>
  <dcterms:created xsi:type="dcterms:W3CDTF">2020-12-15T06:38:19Z</dcterms:created>
  <dcterms:modified xsi:type="dcterms:W3CDTF">2025-11-07T03:58:25Z</dcterms:modified>
</cp:coreProperties>
</file>